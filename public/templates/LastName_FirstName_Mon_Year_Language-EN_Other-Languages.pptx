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5" r:id="rId4"/>
  </p:sldMasterIdLst>
  <p:notesMasterIdLst>
    <p:notesMasterId r:id="rId9"/>
  </p:notesMasterIdLst>
  <p:handoutMasterIdLst>
    <p:handoutMasterId r:id="rId10"/>
  </p:handoutMasterIdLst>
  <p:sldIdLst>
    <p:sldId id="259" r:id="rId5"/>
    <p:sldId id="260" r:id="rId6"/>
    <p:sldId id="258" r:id="rId7"/>
    <p:sldId id="261" r:id="rId8"/>
  </p:sldIdLst>
  <p:sldSz cx="12192000" cy="6858000"/>
  <p:notesSz cx="7315200" cy="96012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2" userDrawn="1">
          <p15:clr>
            <a:srgbClr val="A4A3A4"/>
          </p15:clr>
        </p15:guide>
        <p15:guide id="2" pos="384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90D"/>
    <a:srgbClr val="000000"/>
    <a:srgbClr val="FFCD00"/>
    <a:srgbClr val="ED8B00"/>
    <a:srgbClr val="DB291C"/>
    <a:srgbClr val="FF9900"/>
    <a:srgbClr val="C000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2653" autoAdjust="0"/>
  </p:normalViewPr>
  <p:slideViewPr>
    <p:cSldViewPr snapToGrid="0" showGuides="1">
      <p:cViewPr varScale="1">
        <p:scale>
          <a:sx n="139" d="100"/>
          <a:sy n="139" d="100"/>
        </p:scale>
        <p:origin x="930" y="126"/>
      </p:cViewPr>
      <p:guideLst>
        <p:guide orient="horz" pos="1412"/>
        <p:guide pos="3840"/>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a:latin typeface="Arial" panose="020B0604020202020204" pitchFamily="34" charset="0"/>
              </a:rPr>
              <a:t>12/19/2025</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a:pPr/>
              <a:t>12/19/2025</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4.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4.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56463463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96804087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66637410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1572"/>
            <a:ext cx="11274552"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Deloitte 2025</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940795769"/>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2025</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329150568"/>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2025</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0" name="Title 1">
            <a:extLst>
              <a:ext uri="{FF2B5EF4-FFF2-40B4-BE49-F238E27FC236}">
                <a16:creationId xmlns:a16="http://schemas.microsoft.com/office/drawing/2014/main" id="{F60CC504-C642-CAD5-61BD-E184E479D19C}"/>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1" name="Text Placeholder 2">
            <a:extLst>
              <a:ext uri="{FF2B5EF4-FFF2-40B4-BE49-F238E27FC236}">
                <a16:creationId xmlns:a16="http://schemas.microsoft.com/office/drawing/2014/main" id="{BFD8C8D7-FC7E-145B-B314-E6EBE79FFB22}"/>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Tree>
    <p:extLst>
      <p:ext uri="{BB962C8B-B14F-4D97-AF65-F5344CB8AC3E}">
        <p14:creationId xmlns:p14="http://schemas.microsoft.com/office/powerpoint/2010/main" val="2011969658"/>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2025</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AE58C20-370C-728D-70BA-DDC6ADA47228}"/>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9" name="Text Placeholder 2">
            <a:extLst>
              <a:ext uri="{FF2B5EF4-FFF2-40B4-BE49-F238E27FC236}">
                <a16:creationId xmlns:a16="http://schemas.microsoft.com/office/drawing/2014/main" id="{D692CE7D-8322-F37D-A263-8628F272E568}"/>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Tree>
    <p:extLst>
      <p:ext uri="{BB962C8B-B14F-4D97-AF65-F5344CB8AC3E}">
        <p14:creationId xmlns:p14="http://schemas.microsoft.com/office/powerpoint/2010/main" val="2304079630"/>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Only">
    <p:bg>
      <p:bgPr>
        <a:solidFill>
          <a:srgbClr val="005587"/>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0AA8B90-9F0A-4512-BB67-63C2583B2E61}"/>
              </a:ext>
            </a:extLst>
          </p:cNvPr>
          <p:cNvGraphicFramePr>
            <a:graphicFrameLocks noChangeAspect="1"/>
          </p:cNvGraphicFramePr>
          <p:nvPr userDrawn="1">
            <p:custDataLst>
              <p:tags r:id="rId1"/>
            </p:custDataLst>
            <p:extLst>
              <p:ext uri="{D42A27DB-BD31-4B8C-83A1-F6EECF244321}">
                <p14:modId xmlns:p14="http://schemas.microsoft.com/office/powerpoint/2010/main" val="9626175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E0AA8B90-9F0A-4512-BB67-63C2583B2E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4" name="Rechteck 3">
            <a:extLst>
              <a:ext uri="{FF2B5EF4-FFF2-40B4-BE49-F238E27FC236}">
                <a16:creationId xmlns:a16="http://schemas.microsoft.com/office/drawing/2014/main" id="{944A7927-D2B7-CBC9-2760-D0D4AA25A8E4}"/>
              </a:ext>
            </a:extLst>
          </p:cNvPr>
          <p:cNvSpPr/>
          <p:nvPr userDrawn="1"/>
        </p:nvSpPr>
        <p:spPr bwMode="gray">
          <a:xfrm>
            <a:off x="0" y="6159795"/>
            <a:ext cx="12192000" cy="698205"/>
          </a:xfrm>
          <a:prstGeom prst="rect">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5" name="CaseCode">
            <a:extLst>
              <a:ext uri="{FF2B5EF4-FFF2-40B4-BE49-F238E27FC236}">
                <a16:creationId xmlns:a16="http://schemas.microsoft.com/office/drawing/2014/main" id="{2EE1F917-96B7-BB85-E794-D930F858E97C}"/>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Copyright">
            <a:extLst>
              <a:ext uri="{FF2B5EF4-FFF2-40B4-BE49-F238E27FC236}">
                <a16:creationId xmlns:a16="http://schemas.microsoft.com/office/drawing/2014/main" id="{E86526AF-A070-B0B0-99BB-70751F0C81FE}"/>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2025</a:t>
            </a:r>
          </a:p>
        </p:txBody>
      </p:sp>
      <p:sp>
        <p:nvSpPr>
          <p:cNvPr id="8" name="TextBox 6">
            <a:extLst>
              <a:ext uri="{FF2B5EF4-FFF2-40B4-BE49-F238E27FC236}">
                <a16:creationId xmlns:a16="http://schemas.microsoft.com/office/drawing/2014/main" id="{6EBF5283-F36B-EBF8-D507-E1A2D2C236B0}"/>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704376806"/>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Rechteck 1">
            <a:extLst>
              <a:ext uri="{FF2B5EF4-FFF2-40B4-BE49-F238E27FC236}">
                <a16:creationId xmlns:a16="http://schemas.microsoft.com/office/drawing/2014/main" id="{7CCDA0BA-31C1-C0D1-6173-0E01D221504D}"/>
              </a:ext>
            </a:extLst>
          </p:cNvPr>
          <p:cNvSpPr/>
          <p:nvPr userDrawn="1"/>
        </p:nvSpPr>
        <p:spPr bwMode="gray">
          <a:xfrm>
            <a:off x="304800" y="6438900"/>
            <a:ext cx="11456400" cy="419100"/>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3" name="CaseCode">
            <a:extLst>
              <a:ext uri="{FF2B5EF4-FFF2-40B4-BE49-F238E27FC236}">
                <a16:creationId xmlns:a16="http://schemas.microsoft.com/office/drawing/2014/main" id="{C72357C2-AEF6-4F9C-762F-09BCE6198B7C}"/>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Copyright">
            <a:extLst>
              <a:ext uri="{FF2B5EF4-FFF2-40B4-BE49-F238E27FC236}">
                <a16:creationId xmlns:a16="http://schemas.microsoft.com/office/drawing/2014/main" id="{B6F0CAE8-07C6-14BC-0531-FDCD0C81550E}"/>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Deloitte 2025</a:t>
            </a:r>
          </a:p>
        </p:txBody>
      </p:sp>
      <p:sp>
        <p:nvSpPr>
          <p:cNvPr id="5" name="TextBox 6">
            <a:extLst>
              <a:ext uri="{FF2B5EF4-FFF2-40B4-BE49-F238E27FC236}">
                <a16:creationId xmlns:a16="http://schemas.microsoft.com/office/drawing/2014/main" id="{44622E13-40ED-CA06-603D-C89F9BCB39FE}"/>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986909370"/>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23077"/>
            <a:ext cx="57780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807869"/>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Tree>
    <p:extLst>
      <p:ext uri="{BB962C8B-B14F-4D97-AF65-F5344CB8AC3E}">
        <p14:creationId xmlns:p14="http://schemas.microsoft.com/office/powerpoint/2010/main" val="1685216945"/>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
        <p:nvSpPr>
          <p:cNvPr id="3" name="Picture Placeholder 2">
            <a:extLst>
              <a:ext uri="{FF2B5EF4-FFF2-40B4-BE49-F238E27FC236}">
                <a16:creationId xmlns:a16="http://schemas.microsoft.com/office/drawing/2014/main" id="{65E82836-154E-AFC1-6542-764D7059723C}"/>
              </a:ext>
            </a:extLst>
          </p:cNvPr>
          <p:cNvSpPr>
            <a:spLocks noGrp="1"/>
          </p:cNvSpPr>
          <p:nvPr>
            <p:ph type="pic" sz="quarter" idx="10" hasCustomPrompt="1"/>
          </p:nvPr>
        </p:nvSpPr>
        <p:spPr>
          <a:xfrm>
            <a:off x="457200" y="914399"/>
            <a:ext cx="1260000" cy="1260000"/>
          </a:xfrm>
        </p:spPr>
        <p:txBody>
          <a:bodyPr/>
          <a:lstStyle>
            <a:lvl1pPr>
              <a:defRPr/>
            </a:lvl1pPr>
          </a:lstStyle>
          <a:p>
            <a:r>
              <a:rPr lang="de-DE" dirty="0"/>
              <a:t>Click </a:t>
            </a:r>
            <a:r>
              <a:rPr lang="de-DE" dirty="0" err="1"/>
              <a:t>icon</a:t>
            </a:r>
            <a:r>
              <a:rPr lang="de-DE" dirty="0"/>
              <a:t> </a:t>
            </a:r>
            <a:r>
              <a:rPr lang="de-DE" dirty="0" err="1"/>
              <a:t>to</a:t>
            </a:r>
            <a:r>
              <a:rPr lang="de-DE" dirty="0"/>
              <a:t> </a:t>
            </a:r>
            <a:r>
              <a:rPr lang="de-DE" dirty="0" err="1"/>
              <a:t>add</a:t>
            </a:r>
            <a:r>
              <a:rPr lang="de-DE" dirty="0"/>
              <a:t> a </a:t>
            </a:r>
            <a:r>
              <a:rPr lang="de-DE" dirty="0" err="1"/>
              <a:t>picture</a:t>
            </a:r>
            <a:endParaRPr lang="de-DE" dirty="0"/>
          </a:p>
        </p:txBody>
      </p:sp>
    </p:spTree>
    <p:extLst>
      <p:ext uri="{BB962C8B-B14F-4D97-AF65-F5344CB8AC3E}">
        <p14:creationId xmlns:p14="http://schemas.microsoft.com/office/powerpoint/2010/main" val="2030390686"/>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547789274"/>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0000">
              <a:spcBef>
                <a:spcPts val="200"/>
              </a:spcBef>
              <a:spcAft>
                <a:spcPts val="200"/>
              </a:spcAft>
              <a:defRPr>
                <a:latin typeface="Aptos" panose="020B0004020202020204" pitchFamily="34" charset="0"/>
              </a:defRPr>
            </a:lvl3pPr>
            <a:lvl4pPr marL="540000" indent="-180000">
              <a:spcBef>
                <a:spcPts val="200"/>
              </a:spcBef>
              <a:spcAft>
                <a:spcPts val="200"/>
              </a:spcAft>
              <a:defRPr>
                <a:latin typeface="Aptos" panose="020B0004020202020204" pitchFamily="34" charset="0"/>
              </a:defRPr>
            </a:lvl4pPr>
            <a:lvl5pPr marL="72000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256900188"/>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82496"/>
            <a:ext cx="5495544" cy="4680204"/>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00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2000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80972"/>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000" indent="-179388" algn="l">
              <a:spcBef>
                <a:spcPts val="200"/>
              </a:spcBef>
              <a:spcAft>
                <a:spcPts val="200"/>
              </a:spcAft>
              <a:buClrTx/>
              <a:buSzPct val="100000"/>
              <a:buFont typeface="Arial" panose="020B0604020202020204" pitchFamily="34" charset="0"/>
              <a:buChar char="−"/>
              <a:tabLst>
                <a:tab pos="3771900" algn="r"/>
              </a:tabLst>
              <a:defRPr sz="1200"/>
            </a:lvl3pPr>
            <a:lvl4pPr marL="540000" indent="-180000" algn="l">
              <a:spcBef>
                <a:spcPts val="200"/>
              </a:spcBef>
              <a:spcAft>
                <a:spcPts val="200"/>
              </a:spcAft>
              <a:buClrTx/>
              <a:buSzPct val="100000"/>
              <a:buFont typeface="Arial" panose="020B0604020202020204" pitchFamily="34" charset="0"/>
              <a:buChar char="◦"/>
              <a:tabLst>
                <a:tab pos="3771900" algn="r"/>
              </a:tabLst>
              <a:defRPr sz="1200"/>
            </a:lvl4pPr>
            <a:lvl5pPr marL="72000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483735829"/>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0204"/>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00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2000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97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00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2000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97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00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2000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045716348"/>
      </p:ext>
    </p:extLst>
  </p:cSld>
  <p:clrMapOvr>
    <a:masterClrMapping/>
  </p:clrMapOvr>
  <p:transition>
    <p:fade/>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0000" indent="-18000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20000" indent="-18000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80000" lvl="1"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Second level</a:t>
            </a:r>
          </a:p>
          <a:p>
            <a:pPr marL="360000" lvl="2"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Fourth level</a:t>
            </a:r>
          </a:p>
          <a:p>
            <a:pPr marL="720000" lvl="4" indent="-180000" algn="l" defTabSz="598885"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80000" lvl="1"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Second level</a:t>
            </a:r>
          </a:p>
          <a:p>
            <a:pPr marL="360000" lvl="2"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Fourth level</a:t>
            </a:r>
          </a:p>
          <a:p>
            <a:pPr marL="720000" lvl="4" indent="-180000" algn="l" defTabSz="598885"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80000" lvl="1"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Second level</a:t>
            </a:r>
          </a:p>
          <a:p>
            <a:pPr marL="360000" lvl="2"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Fourth level</a:t>
            </a:r>
          </a:p>
          <a:p>
            <a:pPr marL="720000" lvl="4" indent="-180000" algn="l" defTabSz="598885"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949091662"/>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0000">
              <a:defRPr b="0"/>
            </a:lvl3pPr>
            <a:lvl4pPr marL="540000" indent="-180000">
              <a:defRPr b="0"/>
            </a:lvl4pPr>
            <a:lvl5pPr marL="72000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813738005"/>
      </p:ext>
    </p:extLst>
  </p:cSld>
  <p:clrMapOvr>
    <a:masterClrMapping/>
  </p:clrMapOvr>
  <p:transition>
    <p:fade/>
  </p:transition>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lvl3pPr>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20000" indent="-179388">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lvl3pPr>
              <a:defRPr lang="en-US" sz="1200" b="0" kern="1200" noProof="0" dirty="0">
                <a:solidFill>
                  <a:schemeClr val="tx1"/>
                </a:solidFill>
                <a:latin typeface="Aptos" panose="020B0004020202020204" pitchFamily="34" charset="0"/>
                <a:ea typeface="+mn-ea"/>
                <a:cs typeface="Calibri Light" panose="020F0302020204030204" pitchFamily="34" charset="0"/>
              </a:defRPr>
            </a:lvl3pPr>
            <a:lvl4pPr>
              <a:defRPr lang="en-US" sz="1200" b="0" kern="1200" baseline="0" noProof="0" dirty="0">
                <a:solidFill>
                  <a:schemeClr val="tx1"/>
                </a:solidFill>
                <a:latin typeface="Aptos" panose="020B0004020202020204" pitchFamily="34" charset="0"/>
                <a:ea typeface="+mn-ea"/>
                <a:cs typeface="Calibri Light" panose="020F0302020204030204" pitchFamily="34" charset="0"/>
              </a:defRPr>
            </a:lvl4pPr>
            <a:lvl5pPr marL="720000" indent="-179388">
              <a:defRPr lang="en-US" sz="1200" b="0" kern="1200" baseline="0" noProof="0" dirty="0">
                <a:solidFill>
                  <a:schemeClr val="tx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4019989067"/>
      </p:ext>
    </p:extLst>
  </p:cSld>
  <p:clrMapOvr>
    <a:masterClrMapping/>
  </p:clrMapOvr>
  <p:transition>
    <p:fade/>
  </p:transition>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slide with image - Black">
    <p:bg>
      <p:bgRef idx="1001">
        <a:schemeClr val="bg1"/>
      </p:bgRef>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13604"/>
            <a:ext cx="54653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798236"/>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Tree>
    <p:extLst>
      <p:ext uri="{BB962C8B-B14F-4D97-AF65-F5344CB8AC3E}">
        <p14:creationId xmlns:p14="http://schemas.microsoft.com/office/powerpoint/2010/main" val="978650676"/>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88393656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Picture Placeholder 2">
            <a:extLst>
              <a:ext uri="{FF2B5EF4-FFF2-40B4-BE49-F238E27FC236}">
                <a16:creationId xmlns:a16="http://schemas.microsoft.com/office/drawing/2014/main" id="{7657EA43-7CDD-B152-FD7A-34EAE2F60367}"/>
              </a:ext>
            </a:extLst>
          </p:cNvPr>
          <p:cNvSpPr>
            <a:spLocks noGrp="1"/>
          </p:cNvSpPr>
          <p:nvPr>
            <p:ph type="pic" sz="quarter" idx="10" hasCustomPrompt="1"/>
          </p:nvPr>
        </p:nvSpPr>
        <p:spPr>
          <a:xfrm>
            <a:off x="502921" y="1611125"/>
            <a:ext cx="1260000" cy="1260000"/>
          </a:xfrm>
        </p:spPr>
        <p:txBody>
          <a:bodyPr/>
          <a:lstStyle>
            <a:lvl1pPr>
              <a:defRPr/>
            </a:lvl1pPr>
          </a:lstStyle>
          <a:p>
            <a:r>
              <a:rPr lang="de-DE" dirty="0"/>
              <a:t>Click </a:t>
            </a:r>
            <a:r>
              <a:rPr lang="de-DE" dirty="0" err="1"/>
              <a:t>icon</a:t>
            </a:r>
            <a:r>
              <a:rPr lang="de-DE" dirty="0"/>
              <a:t> </a:t>
            </a:r>
            <a:r>
              <a:rPr lang="de-DE" dirty="0" err="1"/>
              <a:t>to</a:t>
            </a:r>
            <a:r>
              <a:rPr lang="de-DE" dirty="0"/>
              <a:t> </a:t>
            </a:r>
            <a:r>
              <a:rPr lang="de-DE" dirty="0" err="1"/>
              <a:t>add</a:t>
            </a:r>
            <a:r>
              <a:rPr lang="de-DE" dirty="0"/>
              <a:t> a </a:t>
            </a:r>
            <a:r>
              <a:rPr lang="de-DE" dirty="0" err="1"/>
              <a:t>picture</a:t>
            </a:r>
            <a:endParaRPr lang="de-DE" dirty="0"/>
          </a:p>
        </p:txBody>
      </p:sp>
    </p:spTree>
    <p:extLst>
      <p:ext uri="{BB962C8B-B14F-4D97-AF65-F5344CB8AC3E}">
        <p14:creationId xmlns:p14="http://schemas.microsoft.com/office/powerpoint/2010/main" val="1125345978"/>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0000">
              <a:spcBef>
                <a:spcPts val="200"/>
              </a:spcBef>
              <a:spcAft>
                <a:spcPts val="200"/>
              </a:spcAft>
              <a:defRPr>
                <a:solidFill>
                  <a:schemeClr val="bg1"/>
                </a:solidFill>
                <a:latin typeface="Aptos" panose="020B0004020202020204" pitchFamily="34" charset="0"/>
              </a:defRPr>
            </a:lvl3pPr>
            <a:lvl4pPr marL="540000" indent="-180000">
              <a:spcBef>
                <a:spcPts val="200"/>
              </a:spcBef>
              <a:spcAft>
                <a:spcPts val="200"/>
              </a:spcAft>
              <a:defRPr>
                <a:solidFill>
                  <a:schemeClr val="bg1"/>
                </a:solidFill>
                <a:latin typeface="Aptos" panose="020B0004020202020204" pitchFamily="34" charset="0"/>
              </a:defRPr>
            </a:lvl4pPr>
            <a:lvl5pPr marL="72000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2296314162"/>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Tree>
    <p:extLst>
      <p:ext uri="{BB962C8B-B14F-4D97-AF65-F5344CB8AC3E}">
        <p14:creationId xmlns:p14="http://schemas.microsoft.com/office/powerpoint/2010/main" val="529538824"/>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77579"/>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77579"/>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77579"/>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Tree>
    <p:extLst>
      <p:ext uri="{BB962C8B-B14F-4D97-AF65-F5344CB8AC3E}">
        <p14:creationId xmlns:p14="http://schemas.microsoft.com/office/powerpoint/2010/main" val="721214350"/>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7579"/>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77579"/>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77579"/>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77579"/>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Tree>
    <p:extLst>
      <p:ext uri="{BB962C8B-B14F-4D97-AF65-F5344CB8AC3E}">
        <p14:creationId xmlns:p14="http://schemas.microsoft.com/office/powerpoint/2010/main" val="2377942524"/>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marL="179388" indent="-179388">
              <a:spcBef>
                <a:spcPts val="200"/>
              </a:spcBef>
              <a:spcAft>
                <a:spcPts val="200"/>
              </a:spcAf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5760">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marL="179388" indent="-179388">
              <a:spcBef>
                <a:spcPts val="200"/>
              </a:spcBef>
              <a:spcAft>
                <a:spcPts val="200"/>
              </a:spcAf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5760">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marL="179388" indent="-179388">
              <a:spcBef>
                <a:spcPts val="200"/>
              </a:spcBef>
              <a:spcAft>
                <a:spcPts val="200"/>
              </a:spcAf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5760">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marL="179388" indent="-179388">
              <a:spcBef>
                <a:spcPts val="200"/>
              </a:spcBef>
              <a:spcAft>
                <a:spcPts val="200"/>
              </a:spcAf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5760">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2576146990"/>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0000" indent="-1800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lvl="1"/>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80000" lvl="1"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tabLst>
                <a:tab pos="3771900" algn="r"/>
              </a:tabLst>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lang="en-US" sz="1200" b="0" kern="1200" dirty="0">
                <a:solidFill>
                  <a:schemeClr val="bg1"/>
                </a:solidFill>
                <a:latin typeface="Aptos" panose="020B0004020202020204" pitchFamily="34" charset="0"/>
                <a:ea typeface="+mn-ea"/>
                <a:cs typeface="Calibri Light" panose="020F0302020204030204" pitchFamily="34" charset="0"/>
              </a:defRPr>
            </a:lvl1pPr>
            <a:lvl2pPr marL="179388" indent="-179388">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20000" indent="-179388">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lang="en-US" sz="1200" b="0" kern="1200" dirty="0">
                <a:solidFill>
                  <a:schemeClr val="bg1"/>
                </a:solidFill>
                <a:latin typeface="Aptos" panose="020B0004020202020204" pitchFamily="34" charset="0"/>
                <a:ea typeface="+mn-ea"/>
                <a:cs typeface="Calibri Light" panose="020F0302020204030204" pitchFamily="34" charset="0"/>
              </a:defRPr>
            </a:lvl1pPr>
            <a:lvl2pPr marL="179388" indent="-179388">
              <a:defRPr lang="en-US" sz="1200" b="0" kern="1200" noProof="0" dirty="0">
                <a:solidFill>
                  <a:schemeClr val="bg1"/>
                </a:solidFill>
                <a:latin typeface="Aptos" panose="020B0004020202020204" pitchFamily="34" charset="0"/>
                <a:ea typeface="+mn-ea"/>
                <a:cs typeface="Calibri Light" panose="020F0302020204030204" pitchFamily="34" charset="0"/>
              </a:defRPr>
            </a:lvl2pPr>
            <a:lvl3pPr>
              <a:defRPr lang="en-US" sz="1200" b="0" kern="1200" noProof="0" dirty="0">
                <a:solidFill>
                  <a:schemeClr val="bg1"/>
                </a:solidFill>
                <a:latin typeface="Aptos" panose="020B0004020202020204" pitchFamily="34" charset="0"/>
                <a:ea typeface="+mn-ea"/>
                <a:cs typeface="Calibri Light" panose="020F0302020204030204" pitchFamily="34" charset="0"/>
              </a:defRPr>
            </a:lvl3pPr>
            <a:lvl4pPr>
              <a:defRPr lang="en-US" sz="1200" b="0" kern="1200" baseline="0" noProof="0" dirty="0">
                <a:solidFill>
                  <a:schemeClr val="bg1"/>
                </a:solidFill>
                <a:latin typeface="Aptos" panose="020B0004020202020204" pitchFamily="34" charset="0"/>
                <a:ea typeface="+mn-ea"/>
                <a:cs typeface="Calibri Light" panose="020F0302020204030204" pitchFamily="34" charset="0"/>
              </a:defRPr>
            </a:lvl4pPr>
            <a:lvl5pPr marL="720000" indent="-179388">
              <a:defRPr lang="en-US" sz="1200" b="0" kern="1200" baseline="0" noProof="0" dirty="0">
                <a:solidFill>
                  <a:schemeClr val="bg1"/>
                </a:solidFill>
                <a:latin typeface="Aptos" panose="020B0004020202020204" pitchFamily="34" charset="0"/>
                <a:ea typeface="+mn-ea"/>
                <a:cs typeface="Calibri Light" panose="020F0302020204030204" pitchFamily="34" charset="0"/>
              </a:defRPr>
            </a:lvl5pPr>
          </a:lstStyle>
          <a:p>
            <a:pPr lvl="0"/>
            <a:r>
              <a:rPr lang="en-US" noProof="0" dirty="0"/>
              <a:t>Click to add text</a:t>
            </a:r>
          </a:p>
          <a:p>
            <a:pPr marL="179388" lvl="1"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Second level</a:t>
            </a:r>
          </a:p>
          <a:p>
            <a:pPr marL="360000" lvl="2"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Third level</a:t>
            </a:r>
          </a:p>
          <a:p>
            <a:pPr marL="540000" lvl="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pPr>
            <a:r>
              <a:rPr lang="en-US" noProof="0" dirty="0"/>
              <a:t>Fourth level</a:t>
            </a:r>
          </a:p>
          <a:p>
            <a:pPr marL="720000" lvl="4"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pPr>
            <a:r>
              <a:rPr lang="en-US" noProof="0" dirty="0"/>
              <a:t>Fifth level</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8232598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112692" y="-5466"/>
            <a:ext cx="2779773" cy="1308221"/>
          </a:xfrm>
          <a:prstGeom prst="rect">
            <a:avLst/>
          </a:prstGeom>
        </p:spPr>
      </p:pic>
      <p:pic>
        <p:nvPicPr>
          <p:cNvPr id="4" name="Picture 3">
            <a:extLst>
              <a:ext uri="{FF2B5EF4-FFF2-40B4-BE49-F238E27FC236}">
                <a16:creationId xmlns:a16="http://schemas.microsoft.com/office/drawing/2014/main" id="{0797BE4A-B292-BB8E-3093-6103DA403E54}"/>
              </a:ext>
            </a:extLst>
          </p:cNvPr>
          <p:cNvPicPr>
            <a:picLocks noChangeAspect="1"/>
          </p:cNvPicPr>
          <p:nvPr userDrawn="1"/>
        </p:nvPicPr>
        <p:blipFill>
          <a:blip r:embed="rId3"/>
          <a:srcRect/>
          <a:stretch/>
        </p:blipFill>
        <p:spPr>
          <a:xfrm>
            <a:off x="10694852" y="5391335"/>
            <a:ext cx="1198880" cy="1198880"/>
          </a:xfrm>
          <a:prstGeom prst="rect">
            <a:avLst/>
          </a:prstGeom>
        </p:spPr>
      </p:pic>
    </p:spTree>
    <p:extLst>
      <p:ext uri="{BB962C8B-B14F-4D97-AF65-F5344CB8AC3E}">
        <p14:creationId xmlns:p14="http://schemas.microsoft.com/office/powerpoint/2010/main" val="4148926371"/>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0"/>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2" imgW="270" imgH="270" progId="TCLayout.ActiveDocument.1">
                  <p:embed/>
                </p:oleObj>
              </mc:Choice>
              <mc:Fallback>
                <p:oleObj name="think-cell Slide" r:id="rId32" imgW="270" imgH="270" progId="TCLayout.ActiveDocument.1">
                  <p:embed/>
                  <p:pic>
                    <p:nvPicPr>
                      <p:cNvPr id="4" name="Object 3" hidden="1"/>
                      <p:cNvPicPr/>
                      <p:nvPr/>
                    </p:nvPicPr>
                    <p:blipFill>
                      <a:blip r:embed="rId33"/>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Deloitte 2025</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empower - DO NOT DELETE!!!" hidden="1">
            <a:extLst>
              <a:ext uri="{FF2B5EF4-FFF2-40B4-BE49-F238E27FC236}">
                <a16:creationId xmlns:a16="http://schemas.microsoft.com/office/drawing/2014/main" id="{51017695-E7A8-890B-AB7A-19EC19E1B5B9}"/>
              </a:ext>
            </a:extLst>
          </p:cNvPr>
          <p:cNvSpPr/>
          <p:nvPr userDrawn="1">
            <p:custDataLst>
              <p:tags r:id="rId31"/>
            </p:custDataLst>
          </p:nvPr>
        </p:nvSpPr>
        <p:spPr bwMode="gray">
          <a:xfrm>
            <a:off x="0" y="0"/>
            <a:ext cx="0" cy="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Tree>
    <p:extLst>
      <p:ext uri="{BB962C8B-B14F-4D97-AF65-F5344CB8AC3E}">
        <p14:creationId xmlns:p14="http://schemas.microsoft.com/office/powerpoint/2010/main" val="4212240731"/>
      </p:ext>
    </p:extLst>
  </p:cSld>
  <p:clrMap bg1="lt1" tx1="dk1" bg2="lt2" tx2="dk2" accent1="accent1" accent2="accent2" accent3="accent3" accent4="accent4" accent5="accent5" accent6="accent6" hlink="hlink" folHlink="folHlink"/>
  <p:sldLayoutIdLst>
    <p:sldLayoutId id="2147484226" r:id="rId1"/>
    <p:sldLayoutId id="2147484228" r:id="rId2"/>
    <p:sldLayoutId id="2147484230" r:id="rId3"/>
    <p:sldLayoutId id="2147484231" r:id="rId4"/>
    <p:sldLayoutId id="2147484232" r:id="rId5"/>
    <p:sldLayoutId id="2147484233" r:id="rId6"/>
    <p:sldLayoutId id="2147484234" r:id="rId7"/>
    <p:sldLayoutId id="2147484257" r:id="rId8"/>
    <p:sldLayoutId id="2147484235" r:id="rId9"/>
    <p:sldLayoutId id="2147484236" r:id="rId10"/>
    <p:sldLayoutId id="2147484237" r:id="rId11"/>
    <p:sldLayoutId id="2147484238" r:id="rId12"/>
    <p:sldLayoutId id="2147484239" r:id="rId13"/>
    <p:sldLayoutId id="2147484240" r:id="rId14"/>
    <p:sldLayoutId id="2147484241" r:id="rId15"/>
    <p:sldLayoutId id="2147484242" r:id="rId16"/>
    <p:sldLayoutId id="2147484243" r:id="rId17"/>
    <p:sldLayoutId id="2147484244" r:id="rId18"/>
    <p:sldLayoutId id="2147484246" r:id="rId19"/>
    <p:sldLayoutId id="2147484247" r:id="rId20"/>
    <p:sldLayoutId id="2147484248" r:id="rId21"/>
    <p:sldLayoutId id="2147484249" r:id="rId22"/>
    <p:sldLayoutId id="2147484250" r:id="rId23"/>
    <p:sldLayoutId id="2147484251" r:id="rId24"/>
    <p:sldLayoutId id="2147484252" r:id="rId25"/>
    <p:sldLayoutId id="2147484253" r:id="rId26"/>
    <p:sldLayoutId id="2147484254" r:id="rId27"/>
    <p:sldLayoutId id="2147484255" r:id="rId28"/>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a:solidFill>
            <a:schemeClr val="tx1"/>
          </a:solidFill>
          <a:latin typeface="Aptos" panose="020B0004020202020204" pitchFamily="34" charset="0"/>
          <a:ea typeface="+mn-ea"/>
          <a:cs typeface="Calibri Light" panose="020F0302020204030204" pitchFamily="34" charset="0"/>
        </a:defRPr>
      </a:lvl3pPr>
      <a:lvl4pPr marL="538163" indent="-1800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a:solidFill>
            <a:schemeClr val="tx1"/>
          </a:solidFill>
          <a:latin typeface="Aptos" panose="020B0004020202020204" pitchFamily="34" charset="0"/>
          <a:ea typeface="+mn-ea"/>
          <a:cs typeface="Calibri Light" panose="020F0302020204030204" pitchFamily="34" charset="0"/>
        </a:defRPr>
      </a:lvl4pPr>
      <a:lvl5pPr marL="72000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85" pos="3936" userDrawn="1">
          <p15:clr>
            <a:srgbClr val="F26B43"/>
          </p15:clr>
        </p15:guide>
        <p15:guide id="86" orient="horz" pos="4008" userDrawn="1">
          <p15:clr>
            <a:srgbClr val="F26B43"/>
          </p15:clr>
        </p15:guide>
        <p15:guide id="87" orient="horz" pos="4104" userDrawn="1">
          <p15:clr>
            <a:srgbClr val="F26B43"/>
          </p15:clr>
        </p15:guide>
        <p15:guide id="88" orient="horz" pos="1056" userDrawn="1">
          <p15:clr>
            <a:srgbClr val="F26B43"/>
          </p15:clr>
        </p15:guide>
        <p15:guide id="89" pos="3840" userDrawn="1">
          <p15:clr>
            <a:srgbClr val="F26B43"/>
          </p15:clr>
        </p15:guide>
        <p15:guide id="90" pos="7392" userDrawn="1">
          <p15:clr>
            <a:srgbClr val="F26B43"/>
          </p15:clr>
        </p15:guide>
        <p15:guide id="91" orient="horz" pos="216" userDrawn="1">
          <p15:clr>
            <a:srgbClr val="F26B43"/>
          </p15:clr>
        </p15:guide>
        <p15:guide id="92" orient="horz" pos="432" userDrawn="1">
          <p15:clr>
            <a:srgbClr val="F26B43"/>
          </p15:clr>
        </p15:guide>
        <p15:guide id="93" pos="288" userDrawn="1">
          <p15:clr>
            <a:srgbClr val="F26B43"/>
          </p15:clr>
        </p15:guide>
        <p15:guide id="94"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D82AC0DD-935C-BA78-70B5-9F7567AD8D4F}"/>
              </a:ext>
            </a:extLst>
          </p:cNvPr>
          <p:cNvSpPr txBox="1">
            <a:spLocks/>
          </p:cNvSpPr>
          <p:nvPr/>
        </p:nvSpPr>
        <p:spPr>
          <a:xfrm>
            <a:off x="502921" y="651600"/>
            <a:ext cx="11136000" cy="757255"/>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800" b="0" kern="1200">
                <a:solidFill>
                  <a:srgbClr val="575757"/>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Aft>
                <a:spcPts val="0"/>
              </a:spcAft>
            </a:pPr>
            <a:r>
              <a:rPr lang="de-DE" dirty="0">
                <a:solidFill>
                  <a:schemeClr val="tx2"/>
                </a:solidFill>
                <a:latin typeface="Aptos" panose="020B0004020202020204" pitchFamily="34" charset="0"/>
              </a:rPr>
              <a:t>First Name Last Name</a:t>
            </a:r>
          </a:p>
          <a:p>
            <a:pPr>
              <a:spcAft>
                <a:spcPts val="0"/>
              </a:spcAft>
            </a:pPr>
            <a:r>
              <a:rPr lang="de-DE" dirty="0">
                <a:solidFill>
                  <a:schemeClr val="tx2"/>
                </a:solidFill>
                <a:latin typeface="Aptos" panose="020B0004020202020204" pitchFamily="34" charset="0"/>
              </a:rPr>
              <a:t>Project </a:t>
            </a:r>
            <a:r>
              <a:rPr lang="de-DE" dirty="0" err="1">
                <a:solidFill>
                  <a:schemeClr val="tx2"/>
                </a:solidFill>
                <a:latin typeface="Aptos" panose="020B0004020202020204" pitchFamily="34" charset="0"/>
              </a:rPr>
              <a:t>Role</a:t>
            </a:r>
            <a:endParaRPr lang="de-DE" dirty="0">
              <a:solidFill>
                <a:schemeClr val="tx2"/>
              </a:solidFill>
              <a:latin typeface="Aptos" panose="020B0004020202020204" pitchFamily="34" charset="0"/>
            </a:endParaRPr>
          </a:p>
        </p:txBody>
      </p:sp>
      <p:sp>
        <p:nvSpPr>
          <p:cNvPr id="4" name="Title 2">
            <a:extLst>
              <a:ext uri="{FF2B5EF4-FFF2-40B4-BE49-F238E27FC236}">
                <a16:creationId xmlns:a16="http://schemas.microsoft.com/office/drawing/2014/main" id="{686DAC79-5342-8C04-77D1-DB9CCCBC2C1D}"/>
              </a:ext>
            </a:extLst>
          </p:cNvPr>
          <p:cNvSpPr txBox="1">
            <a:spLocks/>
          </p:cNvSpPr>
          <p:nvPr/>
        </p:nvSpPr>
        <p:spPr bwMode="gray">
          <a:xfrm>
            <a:off x="502921" y="320042"/>
            <a:ext cx="11136000" cy="331559"/>
          </a:xfrm>
          <a:prstGeom prst="rect">
            <a:avLst/>
          </a:prstGeom>
        </p:spPr>
        <p:txBody>
          <a:bodyPr vert="horz" lIns="0" tIns="0" rIns="0" bIns="0" rtlCol="0" anchor="t" anchorCtr="0">
            <a:noAutofit/>
          </a:bodyPr>
          <a:lstStyle>
            <a:lvl1pPr algn="l" defTabSz="6858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de-DE" dirty="0">
                <a:latin typeface="Aptos" panose="020B0004020202020204" pitchFamily="34" charset="0"/>
              </a:rPr>
              <a:t>Profile</a:t>
            </a:r>
          </a:p>
        </p:txBody>
      </p:sp>
      <p:sp>
        <p:nvSpPr>
          <p:cNvPr id="5" name="Text Placeholder 7">
            <a:extLst>
              <a:ext uri="{FF2B5EF4-FFF2-40B4-BE49-F238E27FC236}">
                <a16:creationId xmlns:a16="http://schemas.microsoft.com/office/drawing/2014/main" id="{4B366813-CE58-53F0-8A64-C71F5B47C232}"/>
              </a:ext>
            </a:extLst>
          </p:cNvPr>
          <p:cNvSpPr txBox="1">
            <a:spLocks/>
          </p:cNvSpPr>
          <p:nvPr/>
        </p:nvSpPr>
        <p:spPr>
          <a:xfrm>
            <a:off x="868713" y="3362719"/>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Bef>
                <a:spcPts val="600"/>
              </a:spcBef>
              <a:defRPr/>
            </a:pPr>
            <a:r>
              <a:rPr lang="en-US" sz="1200" dirty="0">
                <a:latin typeface="Aptos" panose="020B0004020202020204" pitchFamily="34" charset="0"/>
              </a:rPr>
              <a:t>Business Skills</a:t>
            </a:r>
            <a:endParaRPr lang="en-US" dirty="0">
              <a:latin typeface="Aptos" panose="020B0004020202020204" pitchFamily="34" charset="0"/>
            </a:endParaRP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Rewards Optimization</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Secure Application Development</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Blockchain Platform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Investment Management</a:t>
            </a:r>
          </a:p>
          <a:p>
            <a:pPr>
              <a:spcBef>
                <a:spcPts val="600"/>
              </a:spcBef>
              <a:defRPr/>
            </a:pPr>
            <a:r>
              <a:rPr lang="en-US" sz="1200" dirty="0">
                <a:latin typeface="Aptos" panose="020B0004020202020204" pitchFamily="34" charset="0"/>
              </a:rPr>
              <a:t>Technology Skills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Data Warehouse Integrations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Temenos: CRM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S/4HANA Cloud – Finance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Agile 101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Microsoft C#</a:t>
            </a:r>
          </a:p>
          <a:p>
            <a:pPr>
              <a:spcBef>
                <a:spcPts val="600"/>
              </a:spcBef>
              <a:defRPr/>
            </a:pPr>
            <a:r>
              <a:rPr lang="en-US" sz="1200" dirty="0">
                <a:latin typeface="Aptos" panose="020B0004020202020204" pitchFamily="34" charset="0"/>
              </a:rPr>
              <a:t>Languages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English C1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French B1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German C2</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Polish A2</a:t>
            </a:r>
          </a:p>
        </p:txBody>
      </p:sp>
      <p:sp>
        <p:nvSpPr>
          <p:cNvPr id="6" name="Text Placeholder 8">
            <a:extLst>
              <a:ext uri="{FF2B5EF4-FFF2-40B4-BE49-F238E27FC236}">
                <a16:creationId xmlns:a16="http://schemas.microsoft.com/office/drawing/2014/main" id="{EF95D232-A38F-8DFD-DA7E-7975A6E7DD40}"/>
              </a:ext>
            </a:extLst>
          </p:cNvPr>
          <p:cNvSpPr txBox="1">
            <a:spLocks/>
          </p:cNvSpPr>
          <p:nvPr/>
        </p:nvSpPr>
        <p:spPr>
          <a:xfrm>
            <a:off x="3345034" y="3371910"/>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Bef>
                <a:spcPts val="600"/>
              </a:spcBef>
              <a:defRPr/>
            </a:pPr>
            <a:r>
              <a:rPr lang="en-US" sz="1200" dirty="0">
                <a:latin typeface="Aptos" panose="020B0004020202020204" pitchFamily="34" charset="0"/>
              </a:rPr>
              <a:t>Industry Experience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Industrial Machinery and Components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Automotive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Health Care Providers</a:t>
            </a:r>
          </a:p>
          <a:p>
            <a:pPr>
              <a:spcBef>
                <a:spcPts val="600"/>
              </a:spcBef>
              <a:defRPr/>
            </a:pPr>
            <a:r>
              <a:rPr lang="en-US" sz="1200" dirty="0">
                <a:latin typeface="Aptos" panose="020B0004020202020204" pitchFamily="34" charset="0"/>
              </a:rPr>
              <a:t>Certificates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Certified Associate Project Manager</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Certified Management Accountant </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Scrum Master</a:t>
            </a:r>
          </a:p>
          <a:p>
            <a:pPr>
              <a:spcBef>
                <a:spcPts val="600"/>
              </a:spcBef>
              <a:defRPr/>
            </a:pPr>
            <a:r>
              <a:rPr lang="en-US" sz="1200" dirty="0">
                <a:latin typeface="Aptos" panose="020B0004020202020204" pitchFamily="34" charset="0"/>
              </a:rPr>
              <a:t>Education</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Master’s degree,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Computer Science,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Example University,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Example City</a:t>
            </a:r>
          </a:p>
        </p:txBody>
      </p:sp>
      <p:grpSp>
        <p:nvGrpSpPr>
          <p:cNvPr id="7" name="Group 6">
            <a:extLst>
              <a:ext uri="{FF2B5EF4-FFF2-40B4-BE49-F238E27FC236}">
                <a16:creationId xmlns:a16="http://schemas.microsoft.com/office/drawing/2014/main" id="{13A0E568-324D-889F-C27C-C480852D2A2E}"/>
              </a:ext>
            </a:extLst>
          </p:cNvPr>
          <p:cNvGrpSpPr/>
          <p:nvPr/>
        </p:nvGrpSpPr>
        <p:grpSpPr>
          <a:xfrm>
            <a:off x="502921" y="3000022"/>
            <a:ext cx="5146113" cy="371888"/>
            <a:chOff x="535855" y="3075545"/>
            <a:chExt cx="5146113" cy="371888"/>
          </a:xfrm>
        </p:grpSpPr>
        <p:cxnSp>
          <p:nvCxnSpPr>
            <p:cNvPr id="8" name="Straight Connector 7">
              <a:extLst>
                <a:ext uri="{FF2B5EF4-FFF2-40B4-BE49-F238E27FC236}">
                  <a16:creationId xmlns:a16="http://schemas.microsoft.com/office/drawing/2014/main" id="{3A7E6DD0-5CEC-E221-B593-7C7878C53F92}"/>
                </a:ext>
              </a:extLst>
            </p:cNvPr>
            <p:cNvCxnSpPr/>
            <p:nvPr userDrawn="1"/>
          </p:nvCxnSpPr>
          <p:spPr>
            <a:xfrm>
              <a:off x="965968" y="3369135"/>
              <a:ext cx="4716000" cy="2548"/>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BA0CFCE-C1AE-4231-C76D-A55DE3605F35}"/>
                </a:ext>
              </a:extLst>
            </p:cNvPr>
            <p:cNvSpPr txBox="1"/>
            <p:nvPr userDrawn="1"/>
          </p:nvSpPr>
          <p:spPr>
            <a:xfrm>
              <a:off x="962826" y="3180622"/>
              <a:ext cx="4687001"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Key Skills</a:t>
              </a:r>
              <a:endParaRPr lang="en-US" sz="1200" b="1" noProof="0" dirty="0">
                <a:latin typeface="Aptos" panose="020B000402020202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43F3345A-4DDD-EBA3-1AE3-D8BFE66AD8B8}"/>
                </a:ext>
              </a:extLst>
            </p:cNvPr>
            <p:cNvPicPr>
              <a:picLocks noChangeAspect="1"/>
            </p:cNvPicPr>
            <p:nvPr/>
          </p:nvPicPr>
          <p:blipFill>
            <a:blip r:embed="rId2"/>
            <a:stretch>
              <a:fillRect/>
            </a:stretch>
          </p:blipFill>
          <p:spPr>
            <a:xfrm>
              <a:off x="535855" y="3075545"/>
              <a:ext cx="365792" cy="371888"/>
            </a:xfrm>
            <a:prstGeom prst="rect">
              <a:avLst/>
            </a:prstGeom>
          </p:spPr>
        </p:pic>
      </p:grpSp>
      <p:grpSp>
        <p:nvGrpSpPr>
          <p:cNvPr id="11" name="Group 10">
            <a:extLst>
              <a:ext uri="{FF2B5EF4-FFF2-40B4-BE49-F238E27FC236}">
                <a16:creationId xmlns:a16="http://schemas.microsoft.com/office/drawing/2014/main" id="{1417738B-717F-B303-0E31-1C9C2B356B20}"/>
              </a:ext>
            </a:extLst>
          </p:cNvPr>
          <p:cNvGrpSpPr/>
          <p:nvPr/>
        </p:nvGrpSpPr>
        <p:grpSpPr>
          <a:xfrm>
            <a:off x="5915606" y="2993698"/>
            <a:ext cx="5786825" cy="369021"/>
            <a:chOff x="5913085" y="3078365"/>
            <a:chExt cx="5786825" cy="369021"/>
          </a:xfrm>
        </p:grpSpPr>
        <p:cxnSp>
          <p:nvCxnSpPr>
            <p:cNvPr id="12" name="Straight Connector 11">
              <a:extLst>
                <a:ext uri="{FF2B5EF4-FFF2-40B4-BE49-F238E27FC236}">
                  <a16:creationId xmlns:a16="http://schemas.microsoft.com/office/drawing/2014/main" id="{6D557413-C4FE-B418-F956-77A2F7D7DA57}"/>
                </a:ext>
              </a:extLst>
            </p:cNvPr>
            <p:cNvCxnSpPr/>
            <p:nvPr userDrawn="1"/>
          </p:nvCxnSpPr>
          <p:spPr>
            <a:xfrm>
              <a:off x="6335910" y="3371211"/>
              <a:ext cx="5364000" cy="472"/>
            </a:xfrm>
            <a:prstGeom prst="line">
              <a:avLst/>
            </a:prstGeom>
            <a:ln/>
            <a:effectLst/>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9DFDCFC9-9237-48D8-F14C-0362ECE61EFD}"/>
                </a:ext>
              </a:extLst>
            </p:cNvPr>
            <p:cNvGrpSpPr/>
            <p:nvPr/>
          </p:nvGrpSpPr>
          <p:grpSpPr>
            <a:xfrm>
              <a:off x="5913085" y="3078365"/>
              <a:ext cx="5769187" cy="369021"/>
              <a:chOff x="5913085" y="3078365"/>
              <a:chExt cx="5769187" cy="369021"/>
            </a:xfrm>
          </p:grpSpPr>
          <p:grpSp>
            <p:nvGrpSpPr>
              <p:cNvPr id="14" name="Group 675">
                <a:extLst>
                  <a:ext uri="{FF2B5EF4-FFF2-40B4-BE49-F238E27FC236}">
                    <a16:creationId xmlns:a16="http://schemas.microsoft.com/office/drawing/2014/main" id="{227D5D82-BD8E-E31A-4C9F-AB282A66947A}"/>
                  </a:ext>
                </a:extLst>
              </p:cNvPr>
              <p:cNvGrpSpPr>
                <a:grpSpLocks noChangeAspect="1"/>
              </p:cNvGrpSpPr>
              <p:nvPr userDrawn="1"/>
            </p:nvGrpSpPr>
            <p:grpSpPr bwMode="gray">
              <a:xfrm>
                <a:off x="5913085" y="3078365"/>
                <a:ext cx="369021" cy="369021"/>
                <a:chOff x="6583" y="2681"/>
                <a:chExt cx="340" cy="340"/>
              </a:xfrm>
              <a:solidFill>
                <a:schemeClr val="accent1"/>
              </a:solidFill>
            </p:grpSpPr>
            <p:sp>
              <p:nvSpPr>
                <p:cNvPr id="16" name="Freeform 676">
                  <a:extLst>
                    <a:ext uri="{FF2B5EF4-FFF2-40B4-BE49-F238E27FC236}">
                      <a16:creationId xmlns:a16="http://schemas.microsoft.com/office/drawing/2014/main" id="{D0E2F73F-945D-D51E-FC65-DC7795BD104B}"/>
                    </a:ext>
                  </a:extLst>
                </p:cNvPr>
                <p:cNvSpPr>
                  <a:spLocks noEditPoints="1"/>
                </p:cNvSpPr>
                <p:nvPr/>
              </p:nvSpPr>
              <p:spPr bwMode="gray">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7" name="Freeform 677">
                  <a:extLst>
                    <a:ext uri="{FF2B5EF4-FFF2-40B4-BE49-F238E27FC236}">
                      <a16:creationId xmlns:a16="http://schemas.microsoft.com/office/drawing/2014/main" id="{12AE4BD9-A69A-FB1E-DA75-C52B76956A01}"/>
                    </a:ext>
                  </a:extLst>
                </p:cNvPr>
                <p:cNvSpPr>
                  <a:spLocks noEditPoints="1"/>
                </p:cNvSpPr>
                <p:nvPr/>
              </p:nvSpPr>
              <p:spPr bwMode="gray">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8" name="Freeform 678">
                  <a:extLst>
                    <a:ext uri="{FF2B5EF4-FFF2-40B4-BE49-F238E27FC236}">
                      <a16:creationId xmlns:a16="http://schemas.microsoft.com/office/drawing/2014/main" id="{2090E8D8-EB56-7BAC-6381-3C12B62D1394}"/>
                    </a:ext>
                  </a:extLst>
                </p:cNvPr>
                <p:cNvSpPr>
                  <a:spLocks noEditPoints="1"/>
                </p:cNvSpPr>
                <p:nvPr/>
              </p:nvSpPr>
              <p:spPr bwMode="gray">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sp>
            <p:nvSpPr>
              <p:cNvPr id="15" name="TextBox 14">
                <a:extLst>
                  <a:ext uri="{FF2B5EF4-FFF2-40B4-BE49-F238E27FC236}">
                    <a16:creationId xmlns:a16="http://schemas.microsoft.com/office/drawing/2014/main" id="{BD658FCF-8C08-7EC9-8B40-6AF1FA00E581}"/>
                  </a:ext>
                </a:extLst>
              </p:cNvPr>
              <p:cNvSpPr txBox="1"/>
              <p:nvPr userDrawn="1"/>
            </p:nvSpPr>
            <p:spPr>
              <a:xfrm>
                <a:off x="6353548" y="3178140"/>
                <a:ext cx="5328724"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a:latin typeface="Aptos" panose="020B0004020202020204" pitchFamily="34" charset="0"/>
                    <a:cs typeface="Calibri" panose="020F0502020204030204" pitchFamily="34" charset="0"/>
                  </a:rPr>
                  <a:t>Relevant experience</a:t>
                </a:r>
              </a:p>
            </p:txBody>
          </p:sp>
        </p:grpSp>
      </p:grpSp>
      <p:grpSp>
        <p:nvGrpSpPr>
          <p:cNvPr id="19" name="Group 18">
            <a:extLst>
              <a:ext uri="{FF2B5EF4-FFF2-40B4-BE49-F238E27FC236}">
                <a16:creationId xmlns:a16="http://schemas.microsoft.com/office/drawing/2014/main" id="{48CB0CED-FF6A-543F-033E-9578C0FD3CCF}"/>
              </a:ext>
            </a:extLst>
          </p:cNvPr>
          <p:cNvGrpSpPr/>
          <p:nvPr/>
        </p:nvGrpSpPr>
        <p:grpSpPr>
          <a:xfrm>
            <a:off x="5915582" y="5621902"/>
            <a:ext cx="5890679" cy="367041"/>
            <a:chOff x="5913061" y="5560265"/>
            <a:chExt cx="5890679" cy="367041"/>
          </a:xfrm>
        </p:grpSpPr>
        <p:grpSp>
          <p:nvGrpSpPr>
            <p:cNvPr id="20" name="Group 192">
              <a:extLst>
                <a:ext uri="{FF2B5EF4-FFF2-40B4-BE49-F238E27FC236}">
                  <a16:creationId xmlns:a16="http://schemas.microsoft.com/office/drawing/2014/main" id="{527360AF-8386-994B-439A-4714C563933B}"/>
                </a:ext>
              </a:extLst>
            </p:cNvPr>
            <p:cNvGrpSpPr>
              <a:grpSpLocks noChangeAspect="1"/>
            </p:cNvGrpSpPr>
            <p:nvPr userDrawn="1"/>
          </p:nvGrpSpPr>
          <p:grpSpPr bwMode="gray">
            <a:xfrm>
              <a:off x="5913061" y="5560265"/>
              <a:ext cx="367041" cy="367041"/>
              <a:chOff x="378" y="713"/>
              <a:chExt cx="340" cy="340"/>
            </a:xfrm>
            <a:solidFill>
              <a:schemeClr val="accent1"/>
            </a:solidFill>
          </p:grpSpPr>
          <p:sp>
            <p:nvSpPr>
              <p:cNvPr id="23" name="Freeform 193">
                <a:extLst>
                  <a:ext uri="{FF2B5EF4-FFF2-40B4-BE49-F238E27FC236}">
                    <a16:creationId xmlns:a16="http://schemas.microsoft.com/office/drawing/2014/main" id="{BAEAB2C4-037F-837C-8EB2-2D4D816D3D89}"/>
                  </a:ext>
                </a:extLst>
              </p:cNvPr>
              <p:cNvSpPr>
                <a:spLocks noEditPoints="1"/>
              </p:cNvSpPr>
              <p:nvPr/>
            </p:nvSpPr>
            <p:spPr bwMode="gray">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4" name="Freeform 194">
                <a:extLst>
                  <a:ext uri="{FF2B5EF4-FFF2-40B4-BE49-F238E27FC236}">
                    <a16:creationId xmlns:a16="http://schemas.microsoft.com/office/drawing/2014/main" id="{713247EA-8E2E-9581-17FF-15402871D10F}"/>
                  </a:ext>
                </a:extLst>
              </p:cNvPr>
              <p:cNvSpPr>
                <a:spLocks noEditPoints="1"/>
              </p:cNvSpPr>
              <p:nvPr/>
            </p:nvSpPr>
            <p:spPr bwMode="gray">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cxnSp>
          <p:nvCxnSpPr>
            <p:cNvPr id="21" name="Straight Connector 20">
              <a:extLst>
                <a:ext uri="{FF2B5EF4-FFF2-40B4-BE49-F238E27FC236}">
                  <a16:creationId xmlns:a16="http://schemas.microsoft.com/office/drawing/2014/main" id="{A3A6C5C0-BB8C-4B4B-FF2E-700D4FFD6428}"/>
                </a:ext>
              </a:extLst>
            </p:cNvPr>
            <p:cNvCxnSpPr/>
            <p:nvPr userDrawn="1"/>
          </p:nvCxnSpPr>
          <p:spPr>
            <a:xfrm>
              <a:off x="6337448" y="5852230"/>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689D550-7498-ABD6-90B7-079A38022D47}"/>
                </a:ext>
              </a:extLst>
            </p:cNvPr>
            <p:cNvSpPr txBox="1"/>
            <p:nvPr userDrawn="1"/>
          </p:nvSpPr>
          <p:spPr>
            <a:xfrm>
              <a:off x="6337813" y="5651452"/>
              <a:ext cx="5465927"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Selected</a:t>
              </a:r>
              <a:r>
                <a:rPr lang="en-US" sz="1200" b="1" baseline="0">
                  <a:latin typeface="Aptos" panose="020B0004020202020204" pitchFamily="34" charset="0"/>
                  <a:cs typeface="Calibri" panose="020F0502020204030204" pitchFamily="34" charset="0"/>
                </a:rPr>
                <a:t> Clients</a:t>
              </a:r>
              <a:endParaRPr lang="en-US" sz="1200" b="1" dirty="0">
                <a:latin typeface="Aptos" panose="020B0004020202020204" pitchFamily="34" charset="0"/>
                <a:cs typeface="Calibri" panose="020F0502020204030204" pitchFamily="34" charset="0"/>
              </a:endParaRPr>
            </a:p>
          </p:txBody>
        </p:sp>
      </p:grpSp>
      <p:grpSp>
        <p:nvGrpSpPr>
          <p:cNvPr id="25" name="Group 24">
            <a:extLst>
              <a:ext uri="{FF2B5EF4-FFF2-40B4-BE49-F238E27FC236}">
                <a16:creationId xmlns:a16="http://schemas.microsoft.com/office/drawing/2014/main" id="{DAAF8611-5C68-D7E5-896C-2A6EE8BB7E95}"/>
              </a:ext>
            </a:extLst>
          </p:cNvPr>
          <p:cNvGrpSpPr/>
          <p:nvPr/>
        </p:nvGrpSpPr>
        <p:grpSpPr>
          <a:xfrm>
            <a:off x="5913572" y="1499333"/>
            <a:ext cx="5907432" cy="369021"/>
            <a:chOff x="5911051" y="1613249"/>
            <a:chExt cx="5907432" cy="369021"/>
          </a:xfrm>
        </p:grpSpPr>
        <p:cxnSp>
          <p:nvCxnSpPr>
            <p:cNvPr id="26" name="Straight Connector 25">
              <a:extLst>
                <a:ext uri="{FF2B5EF4-FFF2-40B4-BE49-F238E27FC236}">
                  <a16:creationId xmlns:a16="http://schemas.microsoft.com/office/drawing/2014/main" id="{5CCBDA61-FFE3-0765-F177-F4D35616C269}"/>
                </a:ext>
              </a:extLst>
            </p:cNvPr>
            <p:cNvCxnSpPr/>
            <p:nvPr userDrawn="1"/>
          </p:nvCxnSpPr>
          <p:spPr>
            <a:xfrm>
              <a:off x="6335918" y="1906203"/>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14A4A2B-23EA-7255-115C-69305CAFA78B}"/>
                </a:ext>
              </a:extLst>
            </p:cNvPr>
            <p:cNvSpPr txBox="1"/>
            <p:nvPr userDrawn="1"/>
          </p:nvSpPr>
          <p:spPr>
            <a:xfrm>
              <a:off x="6351705" y="1705426"/>
              <a:ext cx="5466778"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noProof="0" dirty="0">
                  <a:latin typeface="Aptos" panose="020B0004020202020204" pitchFamily="34" charset="0"/>
                  <a:cs typeface="Calibri" panose="020F0502020204030204" pitchFamily="34" charset="0"/>
                </a:rPr>
                <a:t>Summary of professional experience</a:t>
              </a:r>
            </a:p>
          </p:txBody>
        </p:sp>
        <p:grpSp>
          <p:nvGrpSpPr>
            <p:cNvPr id="28" name="Group 555">
              <a:extLst>
                <a:ext uri="{FF2B5EF4-FFF2-40B4-BE49-F238E27FC236}">
                  <a16:creationId xmlns:a16="http://schemas.microsoft.com/office/drawing/2014/main" id="{DBC0CBCB-A78B-41A5-1471-7C800082910E}"/>
                </a:ext>
              </a:extLst>
            </p:cNvPr>
            <p:cNvGrpSpPr>
              <a:grpSpLocks noChangeAspect="1"/>
            </p:cNvGrpSpPr>
            <p:nvPr userDrawn="1"/>
          </p:nvGrpSpPr>
          <p:grpSpPr bwMode="gray">
            <a:xfrm>
              <a:off x="5911051" y="1613249"/>
              <a:ext cx="370106" cy="369021"/>
              <a:chOff x="1130" y="1948"/>
              <a:chExt cx="341" cy="340"/>
            </a:xfrm>
            <a:solidFill>
              <a:schemeClr val="accent1"/>
            </a:solidFill>
          </p:grpSpPr>
          <p:sp>
            <p:nvSpPr>
              <p:cNvPr id="29" name="Freeform 556">
                <a:extLst>
                  <a:ext uri="{FF2B5EF4-FFF2-40B4-BE49-F238E27FC236}">
                    <a16:creationId xmlns:a16="http://schemas.microsoft.com/office/drawing/2014/main" id="{4266F1E4-33E1-FC81-3BC5-5EB1B0F90F15}"/>
                  </a:ext>
                </a:extLst>
              </p:cNvPr>
              <p:cNvSpPr>
                <a:spLocks noEditPoints="1"/>
              </p:cNvSpPr>
              <p:nvPr/>
            </p:nvSpPr>
            <p:spPr bwMode="gray">
              <a:xfrm>
                <a:off x="1130" y="194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0" name="Freeform 557">
                <a:extLst>
                  <a:ext uri="{FF2B5EF4-FFF2-40B4-BE49-F238E27FC236}">
                    <a16:creationId xmlns:a16="http://schemas.microsoft.com/office/drawing/2014/main" id="{11FAE3FC-A0B4-1834-8B47-65B6B84FBE0F}"/>
                  </a:ext>
                </a:extLst>
              </p:cNvPr>
              <p:cNvSpPr>
                <a:spLocks/>
              </p:cNvSpPr>
              <p:nvPr/>
            </p:nvSpPr>
            <p:spPr bwMode="gray">
              <a:xfrm>
                <a:off x="1322" y="2068"/>
                <a:ext cx="85" cy="14"/>
              </a:xfrm>
              <a:custGeom>
                <a:avLst/>
                <a:gdLst>
                  <a:gd name="T0" fmla="*/ 10 w 128"/>
                  <a:gd name="T1" fmla="*/ 21 h 21"/>
                  <a:gd name="T2" fmla="*/ 117 w 128"/>
                  <a:gd name="T3" fmla="*/ 21 h 21"/>
                  <a:gd name="T4" fmla="*/ 128 w 128"/>
                  <a:gd name="T5" fmla="*/ 11 h 21"/>
                  <a:gd name="T6" fmla="*/ 117 w 128"/>
                  <a:gd name="T7" fmla="*/ 0 h 21"/>
                  <a:gd name="T8" fmla="*/ 10 w 128"/>
                  <a:gd name="T9" fmla="*/ 0 h 21"/>
                  <a:gd name="T10" fmla="*/ 0 w 128"/>
                  <a:gd name="T11" fmla="*/ 11 h 21"/>
                  <a:gd name="T12" fmla="*/ 10 w 128"/>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0" y="21"/>
                    </a:moveTo>
                    <a:cubicBezTo>
                      <a:pt x="117" y="21"/>
                      <a:pt x="117" y="21"/>
                      <a:pt x="117" y="21"/>
                    </a:cubicBezTo>
                    <a:cubicBezTo>
                      <a:pt x="123" y="21"/>
                      <a:pt x="128" y="17"/>
                      <a:pt x="128" y="11"/>
                    </a:cubicBezTo>
                    <a:cubicBezTo>
                      <a:pt x="128" y="5"/>
                      <a:pt x="123" y="0"/>
                      <a:pt x="117" y="0"/>
                    </a:cubicBezTo>
                    <a:cubicBezTo>
                      <a:pt x="10" y="0"/>
                      <a:pt x="10" y="0"/>
                      <a:pt x="10" y="0"/>
                    </a:cubicBezTo>
                    <a:cubicBezTo>
                      <a:pt x="4" y="0"/>
                      <a:pt x="0" y="5"/>
                      <a:pt x="0" y="11"/>
                    </a:cubicBezTo>
                    <a:cubicBezTo>
                      <a:pt x="0" y="17"/>
                      <a:pt x="4" y="21"/>
                      <a:pt x="1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1" name="Freeform 558">
                <a:extLst>
                  <a:ext uri="{FF2B5EF4-FFF2-40B4-BE49-F238E27FC236}">
                    <a16:creationId xmlns:a16="http://schemas.microsoft.com/office/drawing/2014/main" id="{209D4F80-30A8-CB9E-4EE5-8F1D0C4F56C1}"/>
                  </a:ext>
                </a:extLst>
              </p:cNvPr>
              <p:cNvSpPr>
                <a:spLocks/>
              </p:cNvSpPr>
              <p:nvPr/>
            </p:nvSpPr>
            <p:spPr bwMode="gray">
              <a:xfrm>
                <a:off x="1322" y="2097"/>
                <a:ext cx="85" cy="14"/>
              </a:xfrm>
              <a:custGeom>
                <a:avLst/>
                <a:gdLst>
                  <a:gd name="T0" fmla="*/ 117 w 128"/>
                  <a:gd name="T1" fmla="*/ 0 h 21"/>
                  <a:gd name="T2" fmla="*/ 10 w 128"/>
                  <a:gd name="T3" fmla="*/ 0 h 21"/>
                  <a:gd name="T4" fmla="*/ 0 w 128"/>
                  <a:gd name="T5" fmla="*/ 10 h 21"/>
                  <a:gd name="T6" fmla="*/ 10 w 128"/>
                  <a:gd name="T7" fmla="*/ 21 h 21"/>
                  <a:gd name="T8" fmla="*/ 117 w 128"/>
                  <a:gd name="T9" fmla="*/ 21 h 21"/>
                  <a:gd name="T10" fmla="*/ 128 w 128"/>
                  <a:gd name="T11" fmla="*/ 10 h 21"/>
                  <a:gd name="T12" fmla="*/ 117 w 128"/>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17" y="0"/>
                    </a:moveTo>
                    <a:cubicBezTo>
                      <a:pt x="10" y="0"/>
                      <a:pt x="10" y="0"/>
                      <a:pt x="10" y="0"/>
                    </a:cubicBezTo>
                    <a:cubicBezTo>
                      <a:pt x="4" y="0"/>
                      <a:pt x="0" y="4"/>
                      <a:pt x="0" y="10"/>
                    </a:cubicBezTo>
                    <a:cubicBezTo>
                      <a:pt x="0" y="16"/>
                      <a:pt x="4" y="21"/>
                      <a:pt x="10" y="21"/>
                    </a:cubicBezTo>
                    <a:cubicBezTo>
                      <a:pt x="117" y="21"/>
                      <a:pt x="117" y="21"/>
                      <a:pt x="117" y="21"/>
                    </a:cubicBezTo>
                    <a:cubicBezTo>
                      <a:pt x="123" y="21"/>
                      <a:pt x="128" y="16"/>
                      <a:pt x="128" y="10"/>
                    </a:cubicBezTo>
                    <a:cubicBezTo>
                      <a:pt x="128" y="4"/>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2" name="Freeform 559">
                <a:extLst>
                  <a:ext uri="{FF2B5EF4-FFF2-40B4-BE49-F238E27FC236}">
                    <a16:creationId xmlns:a16="http://schemas.microsoft.com/office/drawing/2014/main" id="{42955EC7-471E-624C-21D8-3067DA3E6844}"/>
                  </a:ext>
                </a:extLst>
              </p:cNvPr>
              <p:cNvSpPr>
                <a:spLocks/>
              </p:cNvSpPr>
              <p:nvPr/>
            </p:nvSpPr>
            <p:spPr bwMode="gray">
              <a:xfrm>
                <a:off x="1322" y="2125"/>
                <a:ext cx="85" cy="14"/>
              </a:xfrm>
              <a:custGeom>
                <a:avLst/>
                <a:gdLst>
                  <a:gd name="T0" fmla="*/ 117 w 128"/>
                  <a:gd name="T1" fmla="*/ 0 h 22"/>
                  <a:gd name="T2" fmla="*/ 10 w 128"/>
                  <a:gd name="T3" fmla="*/ 0 h 22"/>
                  <a:gd name="T4" fmla="*/ 0 w 128"/>
                  <a:gd name="T5" fmla="*/ 11 h 22"/>
                  <a:gd name="T6" fmla="*/ 10 w 128"/>
                  <a:gd name="T7" fmla="*/ 22 h 22"/>
                  <a:gd name="T8" fmla="*/ 117 w 128"/>
                  <a:gd name="T9" fmla="*/ 22 h 22"/>
                  <a:gd name="T10" fmla="*/ 128 w 128"/>
                  <a:gd name="T11" fmla="*/ 11 h 22"/>
                  <a:gd name="T12" fmla="*/ 117 w 128"/>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28" h="22">
                    <a:moveTo>
                      <a:pt x="117" y="0"/>
                    </a:moveTo>
                    <a:cubicBezTo>
                      <a:pt x="10" y="0"/>
                      <a:pt x="10" y="0"/>
                      <a:pt x="10" y="0"/>
                    </a:cubicBezTo>
                    <a:cubicBezTo>
                      <a:pt x="4" y="0"/>
                      <a:pt x="0" y="5"/>
                      <a:pt x="0" y="11"/>
                    </a:cubicBezTo>
                    <a:cubicBezTo>
                      <a:pt x="0" y="17"/>
                      <a:pt x="4" y="22"/>
                      <a:pt x="10" y="22"/>
                    </a:cubicBezTo>
                    <a:cubicBezTo>
                      <a:pt x="117" y="22"/>
                      <a:pt x="117" y="22"/>
                      <a:pt x="117" y="22"/>
                    </a:cubicBezTo>
                    <a:cubicBezTo>
                      <a:pt x="123" y="22"/>
                      <a:pt x="128" y="17"/>
                      <a:pt x="128" y="11"/>
                    </a:cubicBezTo>
                    <a:cubicBezTo>
                      <a:pt x="128" y="5"/>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3" name="Freeform 560">
                <a:extLst>
                  <a:ext uri="{FF2B5EF4-FFF2-40B4-BE49-F238E27FC236}">
                    <a16:creationId xmlns:a16="http://schemas.microsoft.com/office/drawing/2014/main" id="{FFE343EE-1D8E-CC3A-AFF9-B23132F685DA}"/>
                  </a:ext>
                </a:extLst>
              </p:cNvPr>
              <p:cNvSpPr>
                <a:spLocks/>
              </p:cNvSpPr>
              <p:nvPr/>
            </p:nvSpPr>
            <p:spPr bwMode="gray">
              <a:xfrm>
                <a:off x="1193" y="2051"/>
                <a:ext cx="143" cy="139"/>
              </a:xfrm>
              <a:custGeom>
                <a:avLst/>
                <a:gdLst>
                  <a:gd name="T0" fmla="*/ 209 w 216"/>
                  <a:gd name="T1" fmla="*/ 187 h 209"/>
                  <a:gd name="T2" fmla="*/ 173 w 216"/>
                  <a:gd name="T3" fmla="*/ 179 h 209"/>
                  <a:gd name="T4" fmla="*/ 156 w 216"/>
                  <a:gd name="T5" fmla="*/ 176 h 209"/>
                  <a:gd name="T6" fmla="*/ 145 w 216"/>
                  <a:gd name="T7" fmla="*/ 147 h 209"/>
                  <a:gd name="T8" fmla="*/ 167 w 216"/>
                  <a:gd name="T9" fmla="*/ 96 h 209"/>
                  <a:gd name="T10" fmla="*/ 157 w 216"/>
                  <a:gd name="T11" fmla="*/ 22 h 209"/>
                  <a:gd name="T12" fmla="*/ 109 w 216"/>
                  <a:gd name="T13" fmla="*/ 0 h 209"/>
                  <a:gd name="T14" fmla="*/ 59 w 216"/>
                  <a:gd name="T15" fmla="*/ 22 h 209"/>
                  <a:gd name="T16" fmla="*/ 50 w 216"/>
                  <a:gd name="T17" fmla="*/ 96 h 209"/>
                  <a:gd name="T18" fmla="*/ 72 w 216"/>
                  <a:gd name="T19" fmla="*/ 147 h 209"/>
                  <a:gd name="T20" fmla="*/ 61 w 216"/>
                  <a:gd name="T21" fmla="*/ 176 h 209"/>
                  <a:gd name="T22" fmla="*/ 43 w 216"/>
                  <a:gd name="T23" fmla="*/ 179 h 209"/>
                  <a:gd name="T24" fmla="*/ 7 w 216"/>
                  <a:gd name="T25" fmla="*/ 187 h 209"/>
                  <a:gd name="T26" fmla="*/ 3 w 216"/>
                  <a:gd name="T27" fmla="*/ 202 h 209"/>
                  <a:gd name="T28" fmla="*/ 17 w 216"/>
                  <a:gd name="T29" fmla="*/ 206 h 209"/>
                  <a:gd name="T30" fmla="*/ 45 w 216"/>
                  <a:gd name="T31" fmla="*/ 201 h 209"/>
                  <a:gd name="T32" fmla="*/ 70 w 216"/>
                  <a:gd name="T33" fmla="*/ 196 h 209"/>
                  <a:gd name="T34" fmla="*/ 91 w 216"/>
                  <a:gd name="T35" fmla="*/ 163 h 209"/>
                  <a:gd name="T36" fmla="*/ 90 w 216"/>
                  <a:gd name="T37" fmla="*/ 135 h 209"/>
                  <a:gd name="T38" fmla="*/ 71 w 216"/>
                  <a:gd name="T39" fmla="*/ 91 h 209"/>
                  <a:gd name="T40" fmla="*/ 76 w 216"/>
                  <a:gd name="T41" fmla="*/ 36 h 209"/>
                  <a:gd name="T42" fmla="*/ 109 w 216"/>
                  <a:gd name="T43" fmla="*/ 22 h 209"/>
                  <a:gd name="T44" fmla="*/ 141 w 216"/>
                  <a:gd name="T45" fmla="*/ 36 h 209"/>
                  <a:gd name="T46" fmla="*/ 146 w 216"/>
                  <a:gd name="T47" fmla="*/ 91 h 209"/>
                  <a:gd name="T48" fmla="*/ 127 w 216"/>
                  <a:gd name="T49" fmla="*/ 135 h 209"/>
                  <a:gd name="T50" fmla="*/ 125 w 216"/>
                  <a:gd name="T51" fmla="*/ 163 h 209"/>
                  <a:gd name="T52" fmla="*/ 146 w 216"/>
                  <a:gd name="T53" fmla="*/ 196 h 209"/>
                  <a:gd name="T54" fmla="*/ 171 w 216"/>
                  <a:gd name="T55" fmla="*/ 201 h 209"/>
                  <a:gd name="T56" fmla="*/ 199 w 216"/>
                  <a:gd name="T57" fmla="*/ 206 h 209"/>
                  <a:gd name="T58" fmla="*/ 204 w 216"/>
                  <a:gd name="T59" fmla="*/ 207 h 209"/>
                  <a:gd name="T60" fmla="*/ 214 w 216"/>
                  <a:gd name="T61" fmla="*/ 202 h 209"/>
                  <a:gd name="T62" fmla="*/ 209 w 216"/>
                  <a:gd name="T63" fmla="*/ 18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209">
                    <a:moveTo>
                      <a:pt x="209" y="187"/>
                    </a:moveTo>
                    <a:cubicBezTo>
                      <a:pt x="199" y="182"/>
                      <a:pt x="185" y="180"/>
                      <a:pt x="173" y="179"/>
                    </a:cubicBezTo>
                    <a:cubicBezTo>
                      <a:pt x="166" y="179"/>
                      <a:pt x="158" y="178"/>
                      <a:pt x="156" y="176"/>
                    </a:cubicBezTo>
                    <a:cubicBezTo>
                      <a:pt x="149" y="173"/>
                      <a:pt x="143" y="153"/>
                      <a:pt x="145" y="147"/>
                    </a:cubicBezTo>
                    <a:cubicBezTo>
                      <a:pt x="153" y="134"/>
                      <a:pt x="162" y="114"/>
                      <a:pt x="167" y="96"/>
                    </a:cubicBezTo>
                    <a:cubicBezTo>
                      <a:pt x="174" y="64"/>
                      <a:pt x="171" y="39"/>
                      <a:pt x="157" y="22"/>
                    </a:cubicBezTo>
                    <a:cubicBezTo>
                      <a:pt x="139" y="0"/>
                      <a:pt x="109" y="0"/>
                      <a:pt x="109" y="0"/>
                    </a:cubicBezTo>
                    <a:cubicBezTo>
                      <a:pt x="107" y="0"/>
                      <a:pt x="78" y="0"/>
                      <a:pt x="59" y="22"/>
                    </a:cubicBezTo>
                    <a:cubicBezTo>
                      <a:pt x="45" y="39"/>
                      <a:pt x="42" y="64"/>
                      <a:pt x="50" y="96"/>
                    </a:cubicBezTo>
                    <a:cubicBezTo>
                      <a:pt x="54" y="114"/>
                      <a:pt x="63" y="134"/>
                      <a:pt x="72" y="147"/>
                    </a:cubicBezTo>
                    <a:cubicBezTo>
                      <a:pt x="73" y="153"/>
                      <a:pt x="67" y="173"/>
                      <a:pt x="61" y="176"/>
                    </a:cubicBezTo>
                    <a:cubicBezTo>
                      <a:pt x="58" y="178"/>
                      <a:pt x="50" y="179"/>
                      <a:pt x="43" y="179"/>
                    </a:cubicBezTo>
                    <a:cubicBezTo>
                      <a:pt x="31" y="180"/>
                      <a:pt x="18" y="182"/>
                      <a:pt x="7" y="187"/>
                    </a:cubicBezTo>
                    <a:cubicBezTo>
                      <a:pt x="2" y="190"/>
                      <a:pt x="0" y="196"/>
                      <a:pt x="3" y="202"/>
                    </a:cubicBezTo>
                    <a:cubicBezTo>
                      <a:pt x="6" y="207"/>
                      <a:pt x="12" y="209"/>
                      <a:pt x="17" y="206"/>
                    </a:cubicBezTo>
                    <a:cubicBezTo>
                      <a:pt x="24" y="202"/>
                      <a:pt x="35" y="201"/>
                      <a:pt x="45" y="201"/>
                    </a:cubicBezTo>
                    <a:cubicBezTo>
                      <a:pt x="55" y="200"/>
                      <a:pt x="64" y="199"/>
                      <a:pt x="70" y="196"/>
                    </a:cubicBezTo>
                    <a:cubicBezTo>
                      <a:pt x="84" y="189"/>
                      <a:pt x="90" y="169"/>
                      <a:pt x="91" y="163"/>
                    </a:cubicBezTo>
                    <a:cubicBezTo>
                      <a:pt x="93" y="154"/>
                      <a:pt x="95" y="142"/>
                      <a:pt x="90" y="135"/>
                    </a:cubicBezTo>
                    <a:cubicBezTo>
                      <a:pt x="82" y="125"/>
                      <a:pt x="74" y="106"/>
                      <a:pt x="71" y="91"/>
                    </a:cubicBezTo>
                    <a:cubicBezTo>
                      <a:pt x="65" y="66"/>
                      <a:pt x="66" y="47"/>
                      <a:pt x="76" y="36"/>
                    </a:cubicBezTo>
                    <a:cubicBezTo>
                      <a:pt x="87" y="21"/>
                      <a:pt x="108" y="21"/>
                      <a:pt x="109" y="22"/>
                    </a:cubicBezTo>
                    <a:cubicBezTo>
                      <a:pt x="109" y="21"/>
                      <a:pt x="129" y="21"/>
                      <a:pt x="141" y="36"/>
                    </a:cubicBezTo>
                    <a:cubicBezTo>
                      <a:pt x="150" y="47"/>
                      <a:pt x="152" y="66"/>
                      <a:pt x="146" y="91"/>
                    </a:cubicBezTo>
                    <a:cubicBezTo>
                      <a:pt x="142" y="106"/>
                      <a:pt x="134" y="125"/>
                      <a:pt x="127" y="135"/>
                    </a:cubicBezTo>
                    <a:cubicBezTo>
                      <a:pt x="122" y="142"/>
                      <a:pt x="123" y="154"/>
                      <a:pt x="125" y="163"/>
                    </a:cubicBezTo>
                    <a:cubicBezTo>
                      <a:pt x="127" y="169"/>
                      <a:pt x="133" y="189"/>
                      <a:pt x="146" y="196"/>
                    </a:cubicBezTo>
                    <a:cubicBezTo>
                      <a:pt x="153" y="199"/>
                      <a:pt x="161" y="200"/>
                      <a:pt x="171" y="201"/>
                    </a:cubicBezTo>
                    <a:cubicBezTo>
                      <a:pt x="181" y="201"/>
                      <a:pt x="192" y="202"/>
                      <a:pt x="199" y="206"/>
                    </a:cubicBezTo>
                    <a:cubicBezTo>
                      <a:pt x="201" y="207"/>
                      <a:pt x="202" y="207"/>
                      <a:pt x="204" y="207"/>
                    </a:cubicBezTo>
                    <a:cubicBezTo>
                      <a:pt x="208" y="207"/>
                      <a:pt x="212" y="205"/>
                      <a:pt x="214" y="202"/>
                    </a:cubicBezTo>
                    <a:cubicBezTo>
                      <a:pt x="216" y="196"/>
                      <a:pt x="214" y="190"/>
                      <a:pt x="209"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grpSp>
      <p:sp>
        <p:nvSpPr>
          <p:cNvPr id="34" name="TextBox 33">
            <a:extLst>
              <a:ext uri="{FF2B5EF4-FFF2-40B4-BE49-F238E27FC236}">
                <a16:creationId xmlns:a16="http://schemas.microsoft.com/office/drawing/2014/main" id="{93F89BCA-567F-EA32-C1BB-69C05E5E7AD6}"/>
              </a:ext>
            </a:extLst>
          </p:cNvPr>
          <p:cNvSpPr txBox="1"/>
          <p:nvPr/>
        </p:nvSpPr>
        <p:spPr>
          <a:xfrm>
            <a:off x="1902932" y="1585251"/>
            <a:ext cx="3678385" cy="1077218"/>
          </a:xfrm>
          <a:prstGeom prst="rect">
            <a:avLst/>
          </a:prstGeom>
          <a:noFill/>
        </p:spPr>
        <p:txBody>
          <a:bodyPr wrap="square" lIns="0" tIns="0" rIns="0" bIns="0" rtlCol="0">
            <a:spAutoFit/>
          </a:bodyPr>
          <a:lstStyle/>
          <a:p>
            <a:pPr>
              <a:buSzPct val="100000"/>
            </a:pPr>
            <a:r>
              <a:rPr lang="en-US" sz="1200" b="1" dirty="0">
                <a:latin typeface="Aptos" panose="020B0004020202020204" pitchFamily="34" charset="0"/>
              </a:rPr>
              <a:t>First Name Last Name</a:t>
            </a:r>
            <a:br>
              <a:rPr lang="en-US" dirty="0">
                <a:latin typeface="Aptos" panose="020B0004020202020204" pitchFamily="34" charset="0"/>
              </a:rPr>
            </a:br>
            <a:r>
              <a:rPr lang="en-US" sz="1000" dirty="0">
                <a:latin typeface="Aptos" panose="020B0004020202020204" pitchFamily="34" charset="0"/>
              </a:rPr>
              <a:t>Level</a:t>
            </a:r>
          </a:p>
          <a:p>
            <a:pPr>
              <a:buSzPct val="100000"/>
            </a:pPr>
            <a:r>
              <a:rPr lang="en-US" sz="1000" dirty="0">
                <a:latin typeface="Aptos" panose="020B0004020202020204" pitchFamily="34" charset="0"/>
              </a:rPr>
              <a:t>Offering Portfolio</a:t>
            </a:r>
          </a:p>
          <a:p>
            <a:pPr>
              <a:buSzPct val="100000"/>
            </a:pPr>
            <a:r>
              <a:rPr lang="en-US" sz="1000" dirty="0">
                <a:latin typeface="Aptos" panose="020B0004020202020204" pitchFamily="34" charset="0"/>
              </a:rPr>
              <a:t>Talent Group </a:t>
            </a:r>
          </a:p>
          <a:p>
            <a:pPr>
              <a:buSzPct val="100000"/>
            </a:pPr>
            <a:r>
              <a:rPr lang="en-US" sz="1000" dirty="0">
                <a:latin typeface="Aptos" panose="020B0004020202020204" pitchFamily="34" charset="0"/>
              </a:rPr>
              <a:t>Germany, Office Location</a:t>
            </a:r>
          </a:p>
          <a:p>
            <a:pPr>
              <a:buSzPct val="100000"/>
            </a:pPr>
            <a:endParaRPr lang="de-DE" dirty="0">
              <a:latin typeface="Aptos" panose="020B0004020202020204" pitchFamily="34" charset="0"/>
            </a:endParaRPr>
          </a:p>
        </p:txBody>
      </p:sp>
      <p:sp>
        <p:nvSpPr>
          <p:cNvPr id="35" name="TextBox 34">
            <a:extLst>
              <a:ext uri="{FF2B5EF4-FFF2-40B4-BE49-F238E27FC236}">
                <a16:creationId xmlns:a16="http://schemas.microsoft.com/office/drawing/2014/main" id="{1912968B-1615-57F1-1EFF-1B0072BA4683}"/>
              </a:ext>
            </a:extLst>
          </p:cNvPr>
          <p:cNvSpPr txBox="1"/>
          <p:nvPr/>
        </p:nvSpPr>
        <p:spPr>
          <a:xfrm>
            <a:off x="6354226" y="1846937"/>
            <a:ext cx="5348205" cy="1231106"/>
          </a:xfrm>
          <a:prstGeom prst="rect">
            <a:avLst/>
          </a:prstGeom>
          <a:noFill/>
        </p:spPr>
        <p:txBody>
          <a:bodyPr wrap="square" lIns="0" tIns="0" rIns="0" bIns="0" rtlCol="0">
            <a:spAutoFit/>
          </a:bodyPr>
          <a:lstStyle/>
          <a:p>
            <a:r>
              <a:rPr lang="en-US" sz="1000" dirty="0">
                <a:latin typeface="Aptos" panose="020B0004020202020204" pitchFamily="34" charset="0"/>
              </a:rPr>
              <a:t>Max has a professional experience of five years, of which he worked three years at Deloitte.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a:t>
            </a:r>
          </a:p>
        </p:txBody>
      </p:sp>
      <p:sp>
        <p:nvSpPr>
          <p:cNvPr id="36" name="TextBox 35">
            <a:extLst>
              <a:ext uri="{FF2B5EF4-FFF2-40B4-BE49-F238E27FC236}">
                <a16:creationId xmlns:a16="http://schemas.microsoft.com/office/drawing/2014/main" id="{E693EAB9-A56F-BAE3-F6B5-904015F93D7A}"/>
              </a:ext>
            </a:extLst>
          </p:cNvPr>
          <p:cNvSpPr txBox="1"/>
          <p:nvPr/>
        </p:nvSpPr>
        <p:spPr>
          <a:xfrm>
            <a:off x="6354226" y="3347641"/>
            <a:ext cx="5348205" cy="2308324"/>
          </a:xfrm>
          <a:prstGeom prst="rect">
            <a:avLst/>
          </a:prstGeom>
          <a:noFill/>
        </p:spPr>
        <p:txBody>
          <a:bodyPr wrap="square" lIns="0" tIns="0" rIns="0" bIns="0" rtlCol="0">
            <a:spAutoFit/>
          </a:bodyPr>
          <a:lstStyle/>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Automotive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this document will look when populated with real text. This is dummy text it is not here to be read it is here to show how this document will look when populated with real text.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Finance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documents will look when populated with real text. This is dummy text it is not here to be read it is here to show how documents will look.</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Life Science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this document will look when populated with real text. This is dummy text it is not here to be read it is here to show how this document will look when populated.</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p:txBody>
      </p:sp>
      <p:sp>
        <p:nvSpPr>
          <p:cNvPr id="37" name="TextBox 36">
            <a:extLst>
              <a:ext uri="{FF2B5EF4-FFF2-40B4-BE49-F238E27FC236}">
                <a16:creationId xmlns:a16="http://schemas.microsoft.com/office/drawing/2014/main" id="{724899FB-0F0E-13EC-891E-EAA43DCE65F7}"/>
              </a:ext>
            </a:extLst>
          </p:cNvPr>
          <p:cNvSpPr txBox="1"/>
          <p:nvPr/>
        </p:nvSpPr>
        <p:spPr>
          <a:xfrm>
            <a:off x="6354226" y="5954879"/>
            <a:ext cx="5348205" cy="153888"/>
          </a:xfrm>
          <a:prstGeom prst="rect">
            <a:avLst/>
          </a:prstGeom>
          <a:noFill/>
        </p:spPr>
        <p:txBody>
          <a:bodyPr wrap="square" lIns="0" tIns="0" rIns="0" bIns="0" rtlCol="0">
            <a:spAutoFit/>
          </a:bodyPr>
          <a:lstStyle/>
          <a:p>
            <a:r>
              <a:rPr lang="en-US" sz="1000" dirty="0">
                <a:latin typeface="Aptos" panose="020B0004020202020204" pitchFamily="34" charset="0"/>
              </a:rPr>
              <a:t>Client AG, Client Solutions GmbH, Example Client SE, Client Ltd.</a:t>
            </a:r>
          </a:p>
        </p:txBody>
      </p:sp>
      <p:sp>
        <p:nvSpPr>
          <p:cNvPr id="38" name="Picture Placeholder 2">
            <a:extLst>
              <a:ext uri="{FF2B5EF4-FFF2-40B4-BE49-F238E27FC236}">
                <a16:creationId xmlns:a16="http://schemas.microsoft.com/office/drawing/2014/main" id="{10339721-E4DF-6398-DA28-09992DCE9C1E}"/>
              </a:ext>
            </a:extLst>
          </p:cNvPr>
          <p:cNvSpPr>
            <a:spLocks noGrp="1"/>
          </p:cNvSpPr>
          <p:nvPr>
            <p:ph type="pic" sz="quarter" idx="10"/>
          </p:nvPr>
        </p:nvSpPr>
        <p:spPr>
          <a:xfrm>
            <a:off x="502921" y="1611125"/>
            <a:ext cx="1260000" cy="1260000"/>
          </a:xfrm>
        </p:spPr>
        <p:txBody>
          <a:bodyPr/>
          <a:lstStyle/>
          <a:p>
            <a:endParaRPr lang="de-DE" dirty="0"/>
          </a:p>
        </p:txBody>
      </p:sp>
    </p:spTree>
    <p:extLst>
      <p:ext uri="{BB962C8B-B14F-4D97-AF65-F5344CB8AC3E}">
        <p14:creationId xmlns:p14="http://schemas.microsoft.com/office/powerpoint/2010/main" val="209239397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ABDD6D00-B54A-6365-0568-979F9FEED80D}"/>
              </a:ext>
            </a:extLst>
          </p:cNvPr>
          <p:cNvSpPr txBox="1">
            <a:spLocks/>
          </p:cNvSpPr>
          <p:nvPr/>
        </p:nvSpPr>
        <p:spPr>
          <a:xfrm>
            <a:off x="502921" y="651600"/>
            <a:ext cx="11136000" cy="757255"/>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800" b="0" kern="1200">
                <a:solidFill>
                  <a:srgbClr val="575757"/>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Aft>
                <a:spcPts val="0"/>
              </a:spcAft>
            </a:pPr>
            <a:r>
              <a:rPr lang="de-DE" dirty="0">
                <a:solidFill>
                  <a:schemeClr val="tx2"/>
                </a:solidFill>
                <a:latin typeface="Aptos" panose="020B0004020202020204" pitchFamily="34" charset="0"/>
              </a:rPr>
              <a:t>First Name Last Name</a:t>
            </a:r>
          </a:p>
          <a:p>
            <a:pPr>
              <a:spcAft>
                <a:spcPts val="0"/>
              </a:spcAft>
            </a:pPr>
            <a:r>
              <a:rPr lang="de-DE" dirty="0">
                <a:solidFill>
                  <a:schemeClr val="tx2"/>
                </a:solidFill>
                <a:latin typeface="Aptos" panose="020B0004020202020204" pitchFamily="34" charset="0"/>
              </a:rPr>
              <a:t>Project </a:t>
            </a:r>
            <a:r>
              <a:rPr lang="de-DE" dirty="0" err="1">
                <a:solidFill>
                  <a:schemeClr val="tx2"/>
                </a:solidFill>
                <a:latin typeface="Aptos" panose="020B0004020202020204" pitchFamily="34" charset="0"/>
              </a:rPr>
              <a:t>Role</a:t>
            </a:r>
            <a:endParaRPr lang="de-DE" dirty="0">
              <a:solidFill>
                <a:schemeClr val="tx2"/>
              </a:solidFill>
              <a:latin typeface="Aptos" panose="020B0004020202020204" pitchFamily="34" charset="0"/>
            </a:endParaRPr>
          </a:p>
        </p:txBody>
      </p:sp>
      <p:sp>
        <p:nvSpPr>
          <p:cNvPr id="5" name="Title 2">
            <a:extLst>
              <a:ext uri="{FF2B5EF4-FFF2-40B4-BE49-F238E27FC236}">
                <a16:creationId xmlns:a16="http://schemas.microsoft.com/office/drawing/2014/main" id="{D2FA8DF7-3090-DE92-FC51-9AD496367134}"/>
              </a:ext>
            </a:extLst>
          </p:cNvPr>
          <p:cNvSpPr txBox="1">
            <a:spLocks/>
          </p:cNvSpPr>
          <p:nvPr/>
        </p:nvSpPr>
        <p:spPr bwMode="gray">
          <a:xfrm>
            <a:off x="502921" y="320042"/>
            <a:ext cx="11136000" cy="331559"/>
          </a:xfrm>
          <a:prstGeom prst="rect">
            <a:avLst/>
          </a:prstGeom>
        </p:spPr>
        <p:txBody>
          <a:bodyPr vert="horz" lIns="0" tIns="0" rIns="0" bIns="0" rtlCol="0" anchor="t" anchorCtr="0">
            <a:noAutofit/>
          </a:bodyPr>
          <a:lstStyle>
            <a:lvl1pPr algn="l" defTabSz="6858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de-DE">
                <a:latin typeface="Aptos" panose="020B0004020202020204" pitchFamily="34" charset="0"/>
              </a:rPr>
              <a:t>Profile</a:t>
            </a:r>
            <a:endParaRPr lang="de-DE" dirty="0">
              <a:latin typeface="Aptos" panose="020B0004020202020204" pitchFamily="34" charset="0"/>
            </a:endParaRPr>
          </a:p>
        </p:txBody>
      </p:sp>
      <p:sp>
        <p:nvSpPr>
          <p:cNvPr id="6" name="Text Placeholder 7">
            <a:extLst>
              <a:ext uri="{FF2B5EF4-FFF2-40B4-BE49-F238E27FC236}">
                <a16:creationId xmlns:a16="http://schemas.microsoft.com/office/drawing/2014/main" id="{A23E5C7D-0DFB-FBF1-D130-51AD0AC86E2F}"/>
              </a:ext>
            </a:extLst>
          </p:cNvPr>
          <p:cNvSpPr txBox="1">
            <a:spLocks/>
          </p:cNvSpPr>
          <p:nvPr/>
        </p:nvSpPr>
        <p:spPr>
          <a:xfrm>
            <a:off x="868713" y="3362719"/>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lvl="0">
              <a:spcBef>
                <a:spcPts val="600"/>
              </a:spcBef>
              <a:defRPr/>
            </a:pPr>
            <a:r>
              <a:rPr lang="en-US" sz="1200" dirty="0">
                <a:latin typeface="Aptos" panose="020B0004020202020204" pitchFamily="34" charset="0"/>
              </a:rPr>
              <a:t>Business Skills</a:t>
            </a:r>
            <a:endParaRPr lang="en-US" dirty="0">
              <a:latin typeface="Aptos" panose="020B000402020202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Rewards </a:t>
            </a:r>
            <a:r>
              <a:rPr lang="en-US" sz="1000" dirty="0" err="1">
                <a:latin typeface="Aptos" panose="020B0004020202020204" pitchFamily="34" charset="0"/>
                <a:cs typeface="Calibri" panose="020F0502020204030204" pitchFamily="34" charset="0"/>
              </a:rPr>
              <a:t>Optimierung</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err="1">
                <a:latin typeface="Aptos" panose="020B0004020202020204" pitchFamily="34" charset="0"/>
                <a:cs typeface="Calibri" panose="020F0502020204030204" pitchFamily="34" charset="0"/>
              </a:rPr>
              <a:t>Sichere</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Anwendungsentwicklung</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Blockchain </a:t>
            </a:r>
            <a:r>
              <a:rPr lang="en-US" sz="1000" dirty="0" err="1">
                <a:latin typeface="Aptos" panose="020B0004020202020204" pitchFamily="34" charset="0"/>
                <a:cs typeface="Calibri" panose="020F0502020204030204" pitchFamily="34" charset="0"/>
              </a:rPr>
              <a:t>Plattform</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Investment Management</a:t>
            </a:r>
          </a:p>
          <a:p>
            <a:pPr lvl="0">
              <a:spcBef>
                <a:spcPts val="600"/>
              </a:spcBef>
              <a:defRPr/>
            </a:pPr>
            <a:r>
              <a:rPr lang="en-US" sz="1200" dirty="0">
                <a:latin typeface="Aptos" panose="020B0004020202020204" pitchFamily="34" charset="0"/>
              </a:rPr>
              <a:t>Technology Skills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Data Warehouse Integrations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Temenos: CRM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S/4HANA Cloud – Finance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Agile 101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Microsoft C#</a:t>
            </a:r>
          </a:p>
          <a:p>
            <a:pPr lvl="0">
              <a:spcBef>
                <a:spcPts val="600"/>
              </a:spcBef>
              <a:defRPr/>
            </a:pPr>
            <a:r>
              <a:rPr lang="en-US" sz="1200" dirty="0" err="1">
                <a:latin typeface="Aptos" panose="020B0004020202020204" pitchFamily="34" charset="0"/>
              </a:rPr>
              <a:t>Sprachen</a:t>
            </a:r>
            <a:endParaRPr lang="en-US" sz="1200" dirty="0">
              <a:latin typeface="Aptos" panose="020B0004020202020204" pitchFamily="34" charset="0"/>
            </a:endParaRP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Deutsch C2</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Englisch C1</a:t>
            </a:r>
          </a:p>
          <a:p>
            <a:pPr marL="171450" lvl="2" indent="-171450">
              <a:spcAft>
                <a:spcPts val="0"/>
              </a:spcAft>
              <a:buFont typeface="Arial" panose="020B0604020202020204" pitchFamily="34" charset="0"/>
              <a:buChar char="•"/>
              <a:defRPr/>
            </a:pPr>
            <a:r>
              <a:rPr lang="en-US" sz="1000" dirty="0" err="1">
                <a:latin typeface="Aptos" panose="020B0004020202020204" pitchFamily="34" charset="0"/>
                <a:cs typeface="Calibri" panose="020F0502020204030204" pitchFamily="34" charset="0"/>
              </a:rPr>
              <a:t>Französisch</a:t>
            </a:r>
            <a:r>
              <a:rPr lang="en-US" sz="1000" dirty="0">
                <a:latin typeface="Aptos" panose="020B0004020202020204" pitchFamily="34" charset="0"/>
                <a:cs typeface="Calibri" panose="020F0502020204030204" pitchFamily="34" charset="0"/>
              </a:rPr>
              <a:t> B1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Polnisch A2</a:t>
            </a:r>
          </a:p>
        </p:txBody>
      </p:sp>
      <p:sp>
        <p:nvSpPr>
          <p:cNvPr id="7" name="Text Placeholder 8">
            <a:extLst>
              <a:ext uri="{FF2B5EF4-FFF2-40B4-BE49-F238E27FC236}">
                <a16:creationId xmlns:a16="http://schemas.microsoft.com/office/drawing/2014/main" id="{5A235150-943B-6DF7-52FE-C7E00862C190}"/>
              </a:ext>
            </a:extLst>
          </p:cNvPr>
          <p:cNvSpPr txBox="1">
            <a:spLocks/>
          </p:cNvSpPr>
          <p:nvPr/>
        </p:nvSpPr>
        <p:spPr>
          <a:xfrm>
            <a:off x="3350521" y="3371333"/>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Industrieerfahrung</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Industrie-</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Maschinen</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 und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Komponenten</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Automobilindustrie</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Gesundheitssektor</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Zertifikate</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SAP Certified Associate Project Manager</a:t>
            </a: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Certified Management Accountant </a:t>
            </a: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Scrum Master</a:t>
            </a:r>
          </a:p>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Studium – </a:t>
            </a:r>
            <a:r>
              <a:rPr kumimoji="0" lang="en-US" sz="12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Höchster</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 </a:t>
            </a:r>
            <a:r>
              <a:rPr kumimoji="0" lang="en-US" sz="12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Abschluss</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Master-</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Abschluss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 </a:t>
            </a:r>
            <a:b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Informatik, </a:t>
            </a:r>
            <a:b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Beispiel</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 Universität, </a:t>
            </a:r>
            <a:b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Calibri" panose="020F0502020204030204" pitchFamily="34" charset="0"/>
              </a:rPr>
              <a:t>Beispiel</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panose="020F0502020204030204" pitchFamily="34" charset="0"/>
              </a:rPr>
              <a:t> Stadt</a:t>
            </a:r>
          </a:p>
        </p:txBody>
      </p:sp>
      <p:grpSp>
        <p:nvGrpSpPr>
          <p:cNvPr id="8" name="Group 7">
            <a:extLst>
              <a:ext uri="{FF2B5EF4-FFF2-40B4-BE49-F238E27FC236}">
                <a16:creationId xmlns:a16="http://schemas.microsoft.com/office/drawing/2014/main" id="{70D0C52D-F144-8455-1F65-65192F2CC17D}"/>
              </a:ext>
            </a:extLst>
          </p:cNvPr>
          <p:cNvGrpSpPr/>
          <p:nvPr/>
        </p:nvGrpSpPr>
        <p:grpSpPr>
          <a:xfrm>
            <a:off x="502921" y="3000022"/>
            <a:ext cx="5146113" cy="371888"/>
            <a:chOff x="535855" y="3075545"/>
            <a:chExt cx="5146113" cy="371888"/>
          </a:xfrm>
        </p:grpSpPr>
        <p:cxnSp>
          <p:nvCxnSpPr>
            <p:cNvPr id="9" name="Straight Connector 8">
              <a:extLst>
                <a:ext uri="{FF2B5EF4-FFF2-40B4-BE49-F238E27FC236}">
                  <a16:creationId xmlns:a16="http://schemas.microsoft.com/office/drawing/2014/main" id="{D2D3FCCF-95E1-0DD2-44C3-872B29AC2F9A}"/>
                </a:ext>
              </a:extLst>
            </p:cNvPr>
            <p:cNvCxnSpPr/>
            <p:nvPr userDrawn="1"/>
          </p:nvCxnSpPr>
          <p:spPr>
            <a:xfrm>
              <a:off x="965968" y="3369135"/>
              <a:ext cx="4716000" cy="2548"/>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2502AD5-79F9-6FEE-2D7A-D0ADB159097E}"/>
                </a:ext>
              </a:extLst>
            </p:cNvPr>
            <p:cNvSpPr txBox="1"/>
            <p:nvPr userDrawn="1"/>
          </p:nvSpPr>
          <p:spPr>
            <a:xfrm>
              <a:off x="962826" y="3180622"/>
              <a:ext cx="4687001"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Key Skills</a:t>
              </a:r>
              <a:endParaRPr lang="en-US" sz="1200" b="1" noProof="0" dirty="0">
                <a:latin typeface="Aptos" panose="020B000402020202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6F570FE6-FF16-33B5-6E0F-7B45C5423825}"/>
                </a:ext>
              </a:extLst>
            </p:cNvPr>
            <p:cNvPicPr>
              <a:picLocks noChangeAspect="1"/>
            </p:cNvPicPr>
            <p:nvPr/>
          </p:nvPicPr>
          <p:blipFill>
            <a:blip r:embed="rId2"/>
            <a:stretch>
              <a:fillRect/>
            </a:stretch>
          </p:blipFill>
          <p:spPr>
            <a:xfrm>
              <a:off x="535855" y="3075545"/>
              <a:ext cx="365792" cy="371888"/>
            </a:xfrm>
            <a:prstGeom prst="rect">
              <a:avLst/>
            </a:prstGeom>
          </p:spPr>
        </p:pic>
      </p:grpSp>
      <p:grpSp>
        <p:nvGrpSpPr>
          <p:cNvPr id="12" name="Group 11">
            <a:extLst>
              <a:ext uri="{FF2B5EF4-FFF2-40B4-BE49-F238E27FC236}">
                <a16:creationId xmlns:a16="http://schemas.microsoft.com/office/drawing/2014/main" id="{6E9402F0-EF5D-2EA7-E4CE-6AE66F042A4D}"/>
              </a:ext>
            </a:extLst>
          </p:cNvPr>
          <p:cNvGrpSpPr/>
          <p:nvPr/>
        </p:nvGrpSpPr>
        <p:grpSpPr>
          <a:xfrm>
            <a:off x="5915606" y="2993698"/>
            <a:ext cx="5786825" cy="369021"/>
            <a:chOff x="5913085" y="3078365"/>
            <a:chExt cx="5786825" cy="369021"/>
          </a:xfrm>
        </p:grpSpPr>
        <p:cxnSp>
          <p:nvCxnSpPr>
            <p:cNvPr id="13" name="Straight Connector 12">
              <a:extLst>
                <a:ext uri="{FF2B5EF4-FFF2-40B4-BE49-F238E27FC236}">
                  <a16:creationId xmlns:a16="http://schemas.microsoft.com/office/drawing/2014/main" id="{87948DF1-3BBB-E74E-D659-300EE0B88523}"/>
                </a:ext>
              </a:extLst>
            </p:cNvPr>
            <p:cNvCxnSpPr/>
            <p:nvPr userDrawn="1"/>
          </p:nvCxnSpPr>
          <p:spPr>
            <a:xfrm>
              <a:off x="6335910" y="3371211"/>
              <a:ext cx="5364000" cy="472"/>
            </a:xfrm>
            <a:prstGeom prst="line">
              <a:avLst/>
            </a:prstGeom>
            <a:ln/>
            <a:effectLst/>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14E74978-1B48-5640-D78C-DD605009BB57}"/>
                </a:ext>
              </a:extLst>
            </p:cNvPr>
            <p:cNvGrpSpPr/>
            <p:nvPr/>
          </p:nvGrpSpPr>
          <p:grpSpPr>
            <a:xfrm>
              <a:off x="5913085" y="3078365"/>
              <a:ext cx="5769187" cy="369021"/>
              <a:chOff x="5913085" y="3078365"/>
              <a:chExt cx="5769187" cy="369021"/>
            </a:xfrm>
          </p:grpSpPr>
          <p:grpSp>
            <p:nvGrpSpPr>
              <p:cNvPr id="15" name="Group 675">
                <a:extLst>
                  <a:ext uri="{FF2B5EF4-FFF2-40B4-BE49-F238E27FC236}">
                    <a16:creationId xmlns:a16="http://schemas.microsoft.com/office/drawing/2014/main" id="{4B78FACF-FCBE-C7D8-3F01-D40220BA965F}"/>
                  </a:ext>
                </a:extLst>
              </p:cNvPr>
              <p:cNvGrpSpPr>
                <a:grpSpLocks noChangeAspect="1"/>
              </p:cNvGrpSpPr>
              <p:nvPr userDrawn="1"/>
            </p:nvGrpSpPr>
            <p:grpSpPr bwMode="gray">
              <a:xfrm>
                <a:off x="5913085" y="3078365"/>
                <a:ext cx="369021" cy="369021"/>
                <a:chOff x="6583" y="2681"/>
                <a:chExt cx="340" cy="340"/>
              </a:xfrm>
              <a:solidFill>
                <a:schemeClr val="accent1"/>
              </a:solidFill>
            </p:grpSpPr>
            <p:sp>
              <p:nvSpPr>
                <p:cNvPr id="17" name="Freeform 676">
                  <a:extLst>
                    <a:ext uri="{FF2B5EF4-FFF2-40B4-BE49-F238E27FC236}">
                      <a16:creationId xmlns:a16="http://schemas.microsoft.com/office/drawing/2014/main" id="{E9D21CF2-B251-74E6-1360-1CE5D77B5621}"/>
                    </a:ext>
                  </a:extLst>
                </p:cNvPr>
                <p:cNvSpPr>
                  <a:spLocks noEditPoints="1"/>
                </p:cNvSpPr>
                <p:nvPr/>
              </p:nvSpPr>
              <p:spPr bwMode="gray">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8" name="Freeform 677">
                  <a:extLst>
                    <a:ext uri="{FF2B5EF4-FFF2-40B4-BE49-F238E27FC236}">
                      <a16:creationId xmlns:a16="http://schemas.microsoft.com/office/drawing/2014/main" id="{A47273EB-C8B6-222E-6660-A5689A54495E}"/>
                    </a:ext>
                  </a:extLst>
                </p:cNvPr>
                <p:cNvSpPr>
                  <a:spLocks noEditPoints="1"/>
                </p:cNvSpPr>
                <p:nvPr/>
              </p:nvSpPr>
              <p:spPr bwMode="gray">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9" name="Freeform 678">
                  <a:extLst>
                    <a:ext uri="{FF2B5EF4-FFF2-40B4-BE49-F238E27FC236}">
                      <a16:creationId xmlns:a16="http://schemas.microsoft.com/office/drawing/2014/main" id="{7C65AFA7-DE2E-DBAB-F714-0894A10F72EB}"/>
                    </a:ext>
                  </a:extLst>
                </p:cNvPr>
                <p:cNvSpPr>
                  <a:spLocks noEditPoints="1"/>
                </p:cNvSpPr>
                <p:nvPr/>
              </p:nvSpPr>
              <p:spPr bwMode="gray">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sp>
            <p:nvSpPr>
              <p:cNvPr id="16" name="TextBox 15">
                <a:extLst>
                  <a:ext uri="{FF2B5EF4-FFF2-40B4-BE49-F238E27FC236}">
                    <a16:creationId xmlns:a16="http://schemas.microsoft.com/office/drawing/2014/main" id="{56189B00-F46D-D585-A4D5-696DD086BCE5}"/>
                  </a:ext>
                </a:extLst>
              </p:cNvPr>
              <p:cNvSpPr txBox="1"/>
              <p:nvPr userDrawn="1"/>
            </p:nvSpPr>
            <p:spPr>
              <a:xfrm>
                <a:off x="6353548" y="3178140"/>
                <a:ext cx="5328724"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err="1">
                    <a:latin typeface="Aptos" panose="020B0004020202020204" pitchFamily="34" charset="0"/>
                    <a:cs typeface="Calibri" panose="020F0502020204030204" pitchFamily="34" charset="0"/>
                  </a:rPr>
                  <a:t>Relevante</a:t>
                </a:r>
                <a:r>
                  <a:rPr lang="en-US" sz="1200" b="1" dirty="0">
                    <a:latin typeface="Aptos" panose="020B0004020202020204" pitchFamily="34" charset="0"/>
                    <a:cs typeface="Calibri" panose="020F0502020204030204" pitchFamily="34" charset="0"/>
                  </a:rPr>
                  <a:t> </a:t>
                </a:r>
                <a:r>
                  <a:rPr lang="en-US" sz="1200" b="1" dirty="0" err="1">
                    <a:latin typeface="Aptos" panose="020B0004020202020204" pitchFamily="34" charset="0"/>
                    <a:cs typeface="Calibri" panose="020F0502020204030204" pitchFamily="34" charset="0"/>
                  </a:rPr>
                  <a:t>Projekterfahrung</a:t>
                </a:r>
                <a:endParaRPr lang="en-US" sz="1200" b="1" dirty="0">
                  <a:latin typeface="Aptos" panose="020B0004020202020204" pitchFamily="34" charset="0"/>
                  <a:cs typeface="Calibri" panose="020F0502020204030204" pitchFamily="34" charset="0"/>
                </a:endParaRPr>
              </a:p>
            </p:txBody>
          </p:sp>
        </p:grpSp>
      </p:grpSp>
      <p:grpSp>
        <p:nvGrpSpPr>
          <p:cNvPr id="20" name="Group 19">
            <a:extLst>
              <a:ext uri="{FF2B5EF4-FFF2-40B4-BE49-F238E27FC236}">
                <a16:creationId xmlns:a16="http://schemas.microsoft.com/office/drawing/2014/main" id="{D55CAA67-B78C-CA3C-6C91-31695EC41700}"/>
              </a:ext>
            </a:extLst>
          </p:cNvPr>
          <p:cNvGrpSpPr/>
          <p:nvPr/>
        </p:nvGrpSpPr>
        <p:grpSpPr>
          <a:xfrm>
            <a:off x="5915582" y="5621902"/>
            <a:ext cx="5890679" cy="367041"/>
            <a:chOff x="5913061" y="5560265"/>
            <a:chExt cx="5890679" cy="367041"/>
          </a:xfrm>
        </p:grpSpPr>
        <p:grpSp>
          <p:nvGrpSpPr>
            <p:cNvPr id="21" name="Group 192">
              <a:extLst>
                <a:ext uri="{FF2B5EF4-FFF2-40B4-BE49-F238E27FC236}">
                  <a16:creationId xmlns:a16="http://schemas.microsoft.com/office/drawing/2014/main" id="{F9EB1DE1-42AE-7F5D-7983-EB277F4169BF}"/>
                </a:ext>
              </a:extLst>
            </p:cNvPr>
            <p:cNvGrpSpPr>
              <a:grpSpLocks noChangeAspect="1"/>
            </p:cNvGrpSpPr>
            <p:nvPr userDrawn="1"/>
          </p:nvGrpSpPr>
          <p:grpSpPr bwMode="gray">
            <a:xfrm>
              <a:off x="5913061" y="5560265"/>
              <a:ext cx="367041" cy="367041"/>
              <a:chOff x="378" y="713"/>
              <a:chExt cx="340" cy="340"/>
            </a:xfrm>
            <a:solidFill>
              <a:schemeClr val="accent1"/>
            </a:solidFill>
          </p:grpSpPr>
          <p:sp>
            <p:nvSpPr>
              <p:cNvPr id="24" name="Freeform 193">
                <a:extLst>
                  <a:ext uri="{FF2B5EF4-FFF2-40B4-BE49-F238E27FC236}">
                    <a16:creationId xmlns:a16="http://schemas.microsoft.com/office/drawing/2014/main" id="{B19BA66E-5B15-879B-1F99-91EEDE92947C}"/>
                  </a:ext>
                </a:extLst>
              </p:cNvPr>
              <p:cNvSpPr>
                <a:spLocks noEditPoints="1"/>
              </p:cNvSpPr>
              <p:nvPr/>
            </p:nvSpPr>
            <p:spPr bwMode="gray">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5" name="Freeform 194">
                <a:extLst>
                  <a:ext uri="{FF2B5EF4-FFF2-40B4-BE49-F238E27FC236}">
                    <a16:creationId xmlns:a16="http://schemas.microsoft.com/office/drawing/2014/main" id="{5CF5FEDB-6B8A-A16D-054D-055D737391A8}"/>
                  </a:ext>
                </a:extLst>
              </p:cNvPr>
              <p:cNvSpPr>
                <a:spLocks noEditPoints="1"/>
              </p:cNvSpPr>
              <p:nvPr/>
            </p:nvSpPr>
            <p:spPr bwMode="gray">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cxnSp>
          <p:nvCxnSpPr>
            <p:cNvPr id="22" name="Straight Connector 21">
              <a:extLst>
                <a:ext uri="{FF2B5EF4-FFF2-40B4-BE49-F238E27FC236}">
                  <a16:creationId xmlns:a16="http://schemas.microsoft.com/office/drawing/2014/main" id="{C578CA53-5112-69BB-A84E-BD20D469F700}"/>
                </a:ext>
              </a:extLst>
            </p:cNvPr>
            <p:cNvCxnSpPr/>
            <p:nvPr userDrawn="1"/>
          </p:nvCxnSpPr>
          <p:spPr>
            <a:xfrm>
              <a:off x="6337448" y="5852230"/>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752A31A-A719-C8EB-066A-EDA5ABE7A370}"/>
                </a:ext>
              </a:extLst>
            </p:cNvPr>
            <p:cNvSpPr txBox="1"/>
            <p:nvPr userDrawn="1"/>
          </p:nvSpPr>
          <p:spPr>
            <a:xfrm>
              <a:off x="6337813" y="5651452"/>
              <a:ext cx="5465927"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err="1">
                  <a:latin typeface="Aptos" panose="020B0004020202020204" pitchFamily="34" charset="0"/>
                  <a:cs typeface="Calibri" panose="020F0502020204030204" pitchFamily="34" charset="0"/>
                </a:rPr>
                <a:t>Ausgewählte</a:t>
              </a:r>
              <a:r>
                <a:rPr lang="en-US" sz="1200" b="1" dirty="0">
                  <a:latin typeface="Aptos" panose="020B0004020202020204" pitchFamily="34" charset="0"/>
                  <a:cs typeface="Calibri" panose="020F0502020204030204" pitchFamily="34" charset="0"/>
                </a:rPr>
                <a:t> Kunden</a:t>
              </a:r>
            </a:p>
          </p:txBody>
        </p:sp>
      </p:grpSp>
      <p:grpSp>
        <p:nvGrpSpPr>
          <p:cNvPr id="26" name="Group 25">
            <a:extLst>
              <a:ext uri="{FF2B5EF4-FFF2-40B4-BE49-F238E27FC236}">
                <a16:creationId xmlns:a16="http://schemas.microsoft.com/office/drawing/2014/main" id="{6FF60314-7EFC-EB40-3DC0-036ABA01D325}"/>
              </a:ext>
            </a:extLst>
          </p:cNvPr>
          <p:cNvGrpSpPr/>
          <p:nvPr/>
        </p:nvGrpSpPr>
        <p:grpSpPr>
          <a:xfrm>
            <a:off x="5913572" y="1499333"/>
            <a:ext cx="5907432" cy="369021"/>
            <a:chOff x="5911051" y="1613249"/>
            <a:chExt cx="5907432" cy="369021"/>
          </a:xfrm>
        </p:grpSpPr>
        <p:cxnSp>
          <p:nvCxnSpPr>
            <p:cNvPr id="27" name="Straight Connector 26">
              <a:extLst>
                <a:ext uri="{FF2B5EF4-FFF2-40B4-BE49-F238E27FC236}">
                  <a16:creationId xmlns:a16="http://schemas.microsoft.com/office/drawing/2014/main" id="{3321735A-02F3-4063-2DCB-C37D43109D2D}"/>
                </a:ext>
              </a:extLst>
            </p:cNvPr>
            <p:cNvCxnSpPr/>
            <p:nvPr userDrawn="1"/>
          </p:nvCxnSpPr>
          <p:spPr>
            <a:xfrm>
              <a:off x="6335918" y="1906203"/>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B85D7CC-540F-5C03-BB53-7FE766247014}"/>
                </a:ext>
              </a:extLst>
            </p:cNvPr>
            <p:cNvSpPr txBox="1"/>
            <p:nvPr userDrawn="1"/>
          </p:nvSpPr>
          <p:spPr>
            <a:xfrm>
              <a:off x="6351705" y="1705426"/>
              <a:ext cx="5466778"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noProof="0" dirty="0" err="1">
                  <a:latin typeface="Aptos" panose="020B0004020202020204" pitchFamily="34" charset="0"/>
                  <a:cs typeface="Calibri" panose="020F0502020204030204" pitchFamily="34" charset="0"/>
                </a:rPr>
                <a:t>Zusammenfassung</a:t>
              </a:r>
              <a:r>
                <a:rPr lang="en-US" sz="1200" b="1" noProof="0" dirty="0">
                  <a:latin typeface="Aptos" panose="020B0004020202020204" pitchFamily="34" charset="0"/>
                  <a:cs typeface="Calibri" panose="020F0502020204030204" pitchFamily="34" charset="0"/>
                </a:rPr>
                <a:t> der </a:t>
              </a:r>
              <a:r>
                <a:rPr lang="en-US" sz="1200" b="1" noProof="0" dirty="0" err="1">
                  <a:latin typeface="Aptos" panose="020B0004020202020204" pitchFamily="34" charset="0"/>
                  <a:cs typeface="Calibri" panose="020F0502020204030204" pitchFamily="34" charset="0"/>
                </a:rPr>
                <a:t>Berufserfahrung</a:t>
              </a:r>
              <a:endParaRPr lang="en-US" sz="1200" b="1" noProof="0" dirty="0">
                <a:latin typeface="Aptos" panose="020B0004020202020204" pitchFamily="34" charset="0"/>
                <a:cs typeface="Calibri" panose="020F0502020204030204" pitchFamily="34" charset="0"/>
              </a:endParaRPr>
            </a:p>
          </p:txBody>
        </p:sp>
        <p:grpSp>
          <p:nvGrpSpPr>
            <p:cNvPr id="29" name="Group 555">
              <a:extLst>
                <a:ext uri="{FF2B5EF4-FFF2-40B4-BE49-F238E27FC236}">
                  <a16:creationId xmlns:a16="http://schemas.microsoft.com/office/drawing/2014/main" id="{42E2C5B2-15AA-D909-E9D9-F0083EDE11C4}"/>
                </a:ext>
              </a:extLst>
            </p:cNvPr>
            <p:cNvGrpSpPr>
              <a:grpSpLocks noChangeAspect="1"/>
            </p:cNvGrpSpPr>
            <p:nvPr userDrawn="1"/>
          </p:nvGrpSpPr>
          <p:grpSpPr bwMode="gray">
            <a:xfrm>
              <a:off x="5911051" y="1613249"/>
              <a:ext cx="370106" cy="369021"/>
              <a:chOff x="1130" y="1948"/>
              <a:chExt cx="341" cy="340"/>
            </a:xfrm>
            <a:solidFill>
              <a:schemeClr val="accent1"/>
            </a:solidFill>
          </p:grpSpPr>
          <p:sp>
            <p:nvSpPr>
              <p:cNvPr id="30" name="Freeform 556">
                <a:extLst>
                  <a:ext uri="{FF2B5EF4-FFF2-40B4-BE49-F238E27FC236}">
                    <a16:creationId xmlns:a16="http://schemas.microsoft.com/office/drawing/2014/main" id="{34482111-B5A0-92B7-F05C-822397AC79F2}"/>
                  </a:ext>
                </a:extLst>
              </p:cNvPr>
              <p:cNvSpPr>
                <a:spLocks noEditPoints="1"/>
              </p:cNvSpPr>
              <p:nvPr/>
            </p:nvSpPr>
            <p:spPr bwMode="gray">
              <a:xfrm>
                <a:off x="1130" y="194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1" name="Freeform 557">
                <a:extLst>
                  <a:ext uri="{FF2B5EF4-FFF2-40B4-BE49-F238E27FC236}">
                    <a16:creationId xmlns:a16="http://schemas.microsoft.com/office/drawing/2014/main" id="{B5A44609-D125-11B5-207A-603363DF2777}"/>
                  </a:ext>
                </a:extLst>
              </p:cNvPr>
              <p:cNvSpPr>
                <a:spLocks/>
              </p:cNvSpPr>
              <p:nvPr/>
            </p:nvSpPr>
            <p:spPr bwMode="gray">
              <a:xfrm>
                <a:off x="1322" y="2068"/>
                <a:ext cx="85" cy="14"/>
              </a:xfrm>
              <a:custGeom>
                <a:avLst/>
                <a:gdLst>
                  <a:gd name="T0" fmla="*/ 10 w 128"/>
                  <a:gd name="T1" fmla="*/ 21 h 21"/>
                  <a:gd name="T2" fmla="*/ 117 w 128"/>
                  <a:gd name="T3" fmla="*/ 21 h 21"/>
                  <a:gd name="T4" fmla="*/ 128 w 128"/>
                  <a:gd name="T5" fmla="*/ 11 h 21"/>
                  <a:gd name="T6" fmla="*/ 117 w 128"/>
                  <a:gd name="T7" fmla="*/ 0 h 21"/>
                  <a:gd name="T8" fmla="*/ 10 w 128"/>
                  <a:gd name="T9" fmla="*/ 0 h 21"/>
                  <a:gd name="T10" fmla="*/ 0 w 128"/>
                  <a:gd name="T11" fmla="*/ 11 h 21"/>
                  <a:gd name="T12" fmla="*/ 10 w 128"/>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0" y="21"/>
                    </a:moveTo>
                    <a:cubicBezTo>
                      <a:pt x="117" y="21"/>
                      <a:pt x="117" y="21"/>
                      <a:pt x="117" y="21"/>
                    </a:cubicBezTo>
                    <a:cubicBezTo>
                      <a:pt x="123" y="21"/>
                      <a:pt x="128" y="17"/>
                      <a:pt x="128" y="11"/>
                    </a:cubicBezTo>
                    <a:cubicBezTo>
                      <a:pt x="128" y="5"/>
                      <a:pt x="123" y="0"/>
                      <a:pt x="117" y="0"/>
                    </a:cubicBezTo>
                    <a:cubicBezTo>
                      <a:pt x="10" y="0"/>
                      <a:pt x="10" y="0"/>
                      <a:pt x="10" y="0"/>
                    </a:cubicBezTo>
                    <a:cubicBezTo>
                      <a:pt x="4" y="0"/>
                      <a:pt x="0" y="5"/>
                      <a:pt x="0" y="11"/>
                    </a:cubicBezTo>
                    <a:cubicBezTo>
                      <a:pt x="0" y="17"/>
                      <a:pt x="4" y="21"/>
                      <a:pt x="1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2" name="Freeform 558">
                <a:extLst>
                  <a:ext uri="{FF2B5EF4-FFF2-40B4-BE49-F238E27FC236}">
                    <a16:creationId xmlns:a16="http://schemas.microsoft.com/office/drawing/2014/main" id="{37910CEA-9657-A8B6-B022-6EB578590D8B}"/>
                  </a:ext>
                </a:extLst>
              </p:cNvPr>
              <p:cNvSpPr>
                <a:spLocks/>
              </p:cNvSpPr>
              <p:nvPr/>
            </p:nvSpPr>
            <p:spPr bwMode="gray">
              <a:xfrm>
                <a:off x="1322" y="2097"/>
                <a:ext cx="85" cy="14"/>
              </a:xfrm>
              <a:custGeom>
                <a:avLst/>
                <a:gdLst>
                  <a:gd name="T0" fmla="*/ 117 w 128"/>
                  <a:gd name="T1" fmla="*/ 0 h 21"/>
                  <a:gd name="T2" fmla="*/ 10 w 128"/>
                  <a:gd name="T3" fmla="*/ 0 h 21"/>
                  <a:gd name="T4" fmla="*/ 0 w 128"/>
                  <a:gd name="T5" fmla="*/ 10 h 21"/>
                  <a:gd name="T6" fmla="*/ 10 w 128"/>
                  <a:gd name="T7" fmla="*/ 21 h 21"/>
                  <a:gd name="T8" fmla="*/ 117 w 128"/>
                  <a:gd name="T9" fmla="*/ 21 h 21"/>
                  <a:gd name="T10" fmla="*/ 128 w 128"/>
                  <a:gd name="T11" fmla="*/ 10 h 21"/>
                  <a:gd name="T12" fmla="*/ 117 w 128"/>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17" y="0"/>
                    </a:moveTo>
                    <a:cubicBezTo>
                      <a:pt x="10" y="0"/>
                      <a:pt x="10" y="0"/>
                      <a:pt x="10" y="0"/>
                    </a:cubicBezTo>
                    <a:cubicBezTo>
                      <a:pt x="4" y="0"/>
                      <a:pt x="0" y="4"/>
                      <a:pt x="0" y="10"/>
                    </a:cubicBezTo>
                    <a:cubicBezTo>
                      <a:pt x="0" y="16"/>
                      <a:pt x="4" y="21"/>
                      <a:pt x="10" y="21"/>
                    </a:cubicBezTo>
                    <a:cubicBezTo>
                      <a:pt x="117" y="21"/>
                      <a:pt x="117" y="21"/>
                      <a:pt x="117" y="21"/>
                    </a:cubicBezTo>
                    <a:cubicBezTo>
                      <a:pt x="123" y="21"/>
                      <a:pt x="128" y="16"/>
                      <a:pt x="128" y="10"/>
                    </a:cubicBezTo>
                    <a:cubicBezTo>
                      <a:pt x="128" y="4"/>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3" name="Freeform 559">
                <a:extLst>
                  <a:ext uri="{FF2B5EF4-FFF2-40B4-BE49-F238E27FC236}">
                    <a16:creationId xmlns:a16="http://schemas.microsoft.com/office/drawing/2014/main" id="{A8419CD8-7D81-A1C9-76DA-790B781193F8}"/>
                  </a:ext>
                </a:extLst>
              </p:cNvPr>
              <p:cNvSpPr>
                <a:spLocks/>
              </p:cNvSpPr>
              <p:nvPr/>
            </p:nvSpPr>
            <p:spPr bwMode="gray">
              <a:xfrm>
                <a:off x="1322" y="2125"/>
                <a:ext cx="85" cy="14"/>
              </a:xfrm>
              <a:custGeom>
                <a:avLst/>
                <a:gdLst>
                  <a:gd name="T0" fmla="*/ 117 w 128"/>
                  <a:gd name="T1" fmla="*/ 0 h 22"/>
                  <a:gd name="T2" fmla="*/ 10 w 128"/>
                  <a:gd name="T3" fmla="*/ 0 h 22"/>
                  <a:gd name="T4" fmla="*/ 0 w 128"/>
                  <a:gd name="T5" fmla="*/ 11 h 22"/>
                  <a:gd name="T6" fmla="*/ 10 w 128"/>
                  <a:gd name="T7" fmla="*/ 22 h 22"/>
                  <a:gd name="T8" fmla="*/ 117 w 128"/>
                  <a:gd name="T9" fmla="*/ 22 h 22"/>
                  <a:gd name="T10" fmla="*/ 128 w 128"/>
                  <a:gd name="T11" fmla="*/ 11 h 22"/>
                  <a:gd name="T12" fmla="*/ 117 w 128"/>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28" h="22">
                    <a:moveTo>
                      <a:pt x="117" y="0"/>
                    </a:moveTo>
                    <a:cubicBezTo>
                      <a:pt x="10" y="0"/>
                      <a:pt x="10" y="0"/>
                      <a:pt x="10" y="0"/>
                    </a:cubicBezTo>
                    <a:cubicBezTo>
                      <a:pt x="4" y="0"/>
                      <a:pt x="0" y="5"/>
                      <a:pt x="0" y="11"/>
                    </a:cubicBezTo>
                    <a:cubicBezTo>
                      <a:pt x="0" y="17"/>
                      <a:pt x="4" y="22"/>
                      <a:pt x="10" y="22"/>
                    </a:cubicBezTo>
                    <a:cubicBezTo>
                      <a:pt x="117" y="22"/>
                      <a:pt x="117" y="22"/>
                      <a:pt x="117" y="22"/>
                    </a:cubicBezTo>
                    <a:cubicBezTo>
                      <a:pt x="123" y="22"/>
                      <a:pt x="128" y="17"/>
                      <a:pt x="128" y="11"/>
                    </a:cubicBezTo>
                    <a:cubicBezTo>
                      <a:pt x="128" y="5"/>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4" name="Freeform 560">
                <a:extLst>
                  <a:ext uri="{FF2B5EF4-FFF2-40B4-BE49-F238E27FC236}">
                    <a16:creationId xmlns:a16="http://schemas.microsoft.com/office/drawing/2014/main" id="{07C6786A-0931-D1CD-9EAB-EBCCFAE7F5BF}"/>
                  </a:ext>
                </a:extLst>
              </p:cNvPr>
              <p:cNvSpPr>
                <a:spLocks/>
              </p:cNvSpPr>
              <p:nvPr/>
            </p:nvSpPr>
            <p:spPr bwMode="gray">
              <a:xfrm>
                <a:off x="1193" y="2051"/>
                <a:ext cx="143" cy="139"/>
              </a:xfrm>
              <a:custGeom>
                <a:avLst/>
                <a:gdLst>
                  <a:gd name="T0" fmla="*/ 209 w 216"/>
                  <a:gd name="T1" fmla="*/ 187 h 209"/>
                  <a:gd name="T2" fmla="*/ 173 w 216"/>
                  <a:gd name="T3" fmla="*/ 179 h 209"/>
                  <a:gd name="T4" fmla="*/ 156 w 216"/>
                  <a:gd name="T5" fmla="*/ 176 h 209"/>
                  <a:gd name="T6" fmla="*/ 145 w 216"/>
                  <a:gd name="T7" fmla="*/ 147 h 209"/>
                  <a:gd name="T8" fmla="*/ 167 w 216"/>
                  <a:gd name="T9" fmla="*/ 96 h 209"/>
                  <a:gd name="T10" fmla="*/ 157 w 216"/>
                  <a:gd name="T11" fmla="*/ 22 h 209"/>
                  <a:gd name="T12" fmla="*/ 109 w 216"/>
                  <a:gd name="T13" fmla="*/ 0 h 209"/>
                  <a:gd name="T14" fmla="*/ 59 w 216"/>
                  <a:gd name="T15" fmla="*/ 22 h 209"/>
                  <a:gd name="T16" fmla="*/ 50 w 216"/>
                  <a:gd name="T17" fmla="*/ 96 h 209"/>
                  <a:gd name="T18" fmla="*/ 72 w 216"/>
                  <a:gd name="T19" fmla="*/ 147 h 209"/>
                  <a:gd name="T20" fmla="*/ 61 w 216"/>
                  <a:gd name="T21" fmla="*/ 176 h 209"/>
                  <a:gd name="T22" fmla="*/ 43 w 216"/>
                  <a:gd name="T23" fmla="*/ 179 h 209"/>
                  <a:gd name="T24" fmla="*/ 7 w 216"/>
                  <a:gd name="T25" fmla="*/ 187 h 209"/>
                  <a:gd name="T26" fmla="*/ 3 w 216"/>
                  <a:gd name="T27" fmla="*/ 202 h 209"/>
                  <a:gd name="T28" fmla="*/ 17 w 216"/>
                  <a:gd name="T29" fmla="*/ 206 h 209"/>
                  <a:gd name="T30" fmla="*/ 45 w 216"/>
                  <a:gd name="T31" fmla="*/ 201 h 209"/>
                  <a:gd name="T32" fmla="*/ 70 w 216"/>
                  <a:gd name="T33" fmla="*/ 196 h 209"/>
                  <a:gd name="T34" fmla="*/ 91 w 216"/>
                  <a:gd name="T35" fmla="*/ 163 h 209"/>
                  <a:gd name="T36" fmla="*/ 90 w 216"/>
                  <a:gd name="T37" fmla="*/ 135 h 209"/>
                  <a:gd name="T38" fmla="*/ 71 w 216"/>
                  <a:gd name="T39" fmla="*/ 91 h 209"/>
                  <a:gd name="T40" fmla="*/ 76 w 216"/>
                  <a:gd name="T41" fmla="*/ 36 h 209"/>
                  <a:gd name="T42" fmla="*/ 109 w 216"/>
                  <a:gd name="T43" fmla="*/ 22 h 209"/>
                  <a:gd name="T44" fmla="*/ 141 w 216"/>
                  <a:gd name="T45" fmla="*/ 36 h 209"/>
                  <a:gd name="T46" fmla="*/ 146 w 216"/>
                  <a:gd name="T47" fmla="*/ 91 h 209"/>
                  <a:gd name="T48" fmla="*/ 127 w 216"/>
                  <a:gd name="T49" fmla="*/ 135 h 209"/>
                  <a:gd name="T50" fmla="*/ 125 w 216"/>
                  <a:gd name="T51" fmla="*/ 163 h 209"/>
                  <a:gd name="T52" fmla="*/ 146 w 216"/>
                  <a:gd name="T53" fmla="*/ 196 h 209"/>
                  <a:gd name="T54" fmla="*/ 171 w 216"/>
                  <a:gd name="T55" fmla="*/ 201 h 209"/>
                  <a:gd name="T56" fmla="*/ 199 w 216"/>
                  <a:gd name="T57" fmla="*/ 206 h 209"/>
                  <a:gd name="T58" fmla="*/ 204 w 216"/>
                  <a:gd name="T59" fmla="*/ 207 h 209"/>
                  <a:gd name="T60" fmla="*/ 214 w 216"/>
                  <a:gd name="T61" fmla="*/ 202 h 209"/>
                  <a:gd name="T62" fmla="*/ 209 w 216"/>
                  <a:gd name="T63" fmla="*/ 18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209">
                    <a:moveTo>
                      <a:pt x="209" y="187"/>
                    </a:moveTo>
                    <a:cubicBezTo>
                      <a:pt x="199" y="182"/>
                      <a:pt x="185" y="180"/>
                      <a:pt x="173" y="179"/>
                    </a:cubicBezTo>
                    <a:cubicBezTo>
                      <a:pt x="166" y="179"/>
                      <a:pt x="158" y="178"/>
                      <a:pt x="156" y="176"/>
                    </a:cubicBezTo>
                    <a:cubicBezTo>
                      <a:pt x="149" y="173"/>
                      <a:pt x="143" y="153"/>
                      <a:pt x="145" y="147"/>
                    </a:cubicBezTo>
                    <a:cubicBezTo>
                      <a:pt x="153" y="134"/>
                      <a:pt x="162" y="114"/>
                      <a:pt x="167" y="96"/>
                    </a:cubicBezTo>
                    <a:cubicBezTo>
                      <a:pt x="174" y="64"/>
                      <a:pt x="171" y="39"/>
                      <a:pt x="157" y="22"/>
                    </a:cubicBezTo>
                    <a:cubicBezTo>
                      <a:pt x="139" y="0"/>
                      <a:pt x="109" y="0"/>
                      <a:pt x="109" y="0"/>
                    </a:cubicBezTo>
                    <a:cubicBezTo>
                      <a:pt x="107" y="0"/>
                      <a:pt x="78" y="0"/>
                      <a:pt x="59" y="22"/>
                    </a:cubicBezTo>
                    <a:cubicBezTo>
                      <a:pt x="45" y="39"/>
                      <a:pt x="42" y="64"/>
                      <a:pt x="50" y="96"/>
                    </a:cubicBezTo>
                    <a:cubicBezTo>
                      <a:pt x="54" y="114"/>
                      <a:pt x="63" y="134"/>
                      <a:pt x="72" y="147"/>
                    </a:cubicBezTo>
                    <a:cubicBezTo>
                      <a:pt x="73" y="153"/>
                      <a:pt x="67" y="173"/>
                      <a:pt x="61" y="176"/>
                    </a:cubicBezTo>
                    <a:cubicBezTo>
                      <a:pt x="58" y="178"/>
                      <a:pt x="50" y="179"/>
                      <a:pt x="43" y="179"/>
                    </a:cubicBezTo>
                    <a:cubicBezTo>
                      <a:pt x="31" y="180"/>
                      <a:pt x="18" y="182"/>
                      <a:pt x="7" y="187"/>
                    </a:cubicBezTo>
                    <a:cubicBezTo>
                      <a:pt x="2" y="190"/>
                      <a:pt x="0" y="196"/>
                      <a:pt x="3" y="202"/>
                    </a:cubicBezTo>
                    <a:cubicBezTo>
                      <a:pt x="6" y="207"/>
                      <a:pt x="12" y="209"/>
                      <a:pt x="17" y="206"/>
                    </a:cubicBezTo>
                    <a:cubicBezTo>
                      <a:pt x="24" y="202"/>
                      <a:pt x="35" y="201"/>
                      <a:pt x="45" y="201"/>
                    </a:cubicBezTo>
                    <a:cubicBezTo>
                      <a:pt x="55" y="200"/>
                      <a:pt x="64" y="199"/>
                      <a:pt x="70" y="196"/>
                    </a:cubicBezTo>
                    <a:cubicBezTo>
                      <a:pt x="84" y="189"/>
                      <a:pt x="90" y="169"/>
                      <a:pt x="91" y="163"/>
                    </a:cubicBezTo>
                    <a:cubicBezTo>
                      <a:pt x="93" y="154"/>
                      <a:pt x="95" y="142"/>
                      <a:pt x="90" y="135"/>
                    </a:cubicBezTo>
                    <a:cubicBezTo>
                      <a:pt x="82" y="125"/>
                      <a:pt x="74" y="106"/>
                      <a:pt x="71" y="91"/>
                    </a:cubicBezTo>
                    <a:cubicBezTo>
                      <a:pt x="65" y="66"/>
                      <a:pt x="66" y="47"/>
                      <a:pt x="76" y="36"/>
                    </a:cubicBezTo>
                    <a:cubicBezTo>
                      <a:pt x="87" y="21"/>
                      <a:pt x="108" y="21"/>
                      <a:pt x="109" y="22"/>
                    </a:cubicBezTo>
                    <a:cubicBezTo>
                      <a:pt x="109" y="21"/>
                      <a:pt x="129" y="21"/>
                      <a:pt x="141" y="36"/>
                    </a:cubicBezTo>
                    <a:cubicBezTo>
                      <a:pt x="150" y="47"/>
                      <a:pt x="152" y="66"/>
                      <a:pt x="146" y="91"/>
                    </a:cubicBezTo>
                    <a:cubicBezTo>
                      <a:pt x="142" y="106"/>
                      <a:pt x="134" y="125"/>
                      <a:pt x="127" y="135"/>
                    </a:cubicBezTo>
                    <a:cubicBezTo>
                      <a:pt x="122" y="142"/>
                      <a:pt x="123" y="154"/>
                      <a:pt x="125" y="163"/>
                    </a:cubicBezTo>
                    <a:cubicBezTo>
                      <a:pt x="127" y="169"/>
                      <a:pt x="133" y="189"/>
                      <a:pt x="146" y="196"/>
                    </a:cubicBezTo>
                    <a:cubicBezTo>
                      <a:pt x="153" y="199"/>
                      <a:pt x="161" y="200"/>
                      <a:pt x="171" y="201"/>
                    </a:cubicBezTo>
                    <a:cubicBezTo>
                      <a:pt x="181" y="201"/>
                      <a:pt x="192" y="202"/>
                      <a:pt x="199" y="206"/>
                    </a:cubicBezTo>
                    <a:cubicBezTo>
                      <a:pt x="201" y="207"/>
                      <a:pt x="202" y="207"/>
                      <a:pt x="204" y="207"/>
                    </a:cubicBezTo>
                    <a:cubicBezTo>
                      <a:pt x="208" y="207"/>
                      <a:pt x="212" y="205"/>
                      <a:pt x="214" y="202"/>
                    </a:cubicBezTo>
                    <a:cubicBezTo>
                      <a:pt x="216" y="196"/>
                      <a:pt x="214" y="190"/>
                      <a:pt x="209"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grpSp>
      <p:sp>
        <p:nvSpPr>
          <p:cNvPr id="35" name="TextBox 34">
            <a:extLst>
              <a:ext uri="{FF2B5EF4-FFF2-40B4-BE49-F238E27FC236}">
                <a16:creationId xmlns:a16="http://schemas.microsoft.com/office/drawing/2014/main" id="{17085136-01EC-E86C-1721-0DCFA0450AD2}"/>
              </a:ext>
            </a:extLst>
          </p:cNvPr>
          <p:cNvSpPr txBox="1"/>
          <p:nvPr/>
        </p:nvSpPr>
        <p:spPr>
          <a:xfrm>
            <a:off x="1902932" y="1585251"/>
            <a:ext cx="3678385"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First Name Last Name</a:t>
            </a:r>
            <a:br>
              <a:rPr kumimoji="0" lang="en-US" sz="1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b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Level</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Offering Portfolio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Talent Group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Deutschland, Office Location</a:t>
            </a:r>
          </a:p>
          <a:p>
            <a:pPr>
              <a:buSzPct val="100000"/>
            </a:pPr>
            <a:endParaRPr lang="de-DE" dirty="0">
              <a:latin typeface="Aptos" panose="020B0004020202020204" pitchFamily="34" charset="0"/>
            </a:endParaRPr>
          </a:p>
        </p:txBody>
      </p:sp>
      <p:sp>
        <p:nvSpPr>
          <p:cNvPr id="36" name="TextBox 35">
            <a:extLst>
              <a:ext uri="{FF2B5EF4-FFF2-40B4-BE49-F238E27FC236}">
                <a16:creationId xmlns:a16="http://schemas.microsoft.com/office/drawing/2014/main" id="{C1A14857-7450-C960-E8BC-4C56E226AA54}"/>
              </a:ext>
            </a:extLst>
          </p:cNvPr>
          <p:cNvSpPr txBox="1"/>
          <p:nvPr/>
        </p:nvSpPr>
        <p:spPr>
          <a:xfrm>
            <a:off x="6354226" y="1846937"/>
            <a:ext cx="5348205" cy="1077218"/>
          </a:xfrm>
          <a:prstGeom prst="rect">
            <a:avLst/>
          </a:prstGeom>
          <a:noFill/>
        </p:spPr>
        <p:txBody>
          <a:bodyPr wrap="square" lIns="0" tIns="0" rIns="0" bIns="0" rtlCol="0">
            <a:spAutoFit/>
          </a:bodyPr>
          <a:lstStyle/>
          <a:p>
            <a:r>
              <a:rPr lang="de-DE" sz="1000" dirty="0">
                <a:latin typeface="Aptos" panose="020B0004020202020204" pitchFamily="34" charset="0"/>
              </a:rPr>
              <a:t>Max verfügt über fünf Jahre Berufserfahrung, davon arbeitete er drei Jahre bei Deloitte. Text läuft hier, dies ist Dummy-Text, er ist nicht hier, um gelesen zu werden, er ist hier, um zu zeigen, wie dieses Dokument aussehen wird, wenn es mit echtem Text gefüllt wird. Text läuft hier, dies ist Dummy-Text, er ist nicht hier, um gelesen zu werden, er ist hier, um zu zeigen, wie dieses Dokument aussehen wird, wenn es mit echtem Text gefüllt wird. Text läuft hier, dies ist Dummy-Text, er ist nicht hier, um gelesen zu werden, er ist hier, um zu zeigen, wie dieses Dokument aussehen wird, wenn es mit echtem Text gefüllt wird. </a:t>
            </a:r>
          </a:p>
        </p:txBody>
      </p:sp>
      <p:sp>
        <p:nvSpPr>
          <p:cNvPr id="37" name="TextBox 36">
            <a:extLst>
              <a:ext uri="{FF2B5EF4-FFF2-40B4-BE49-F238E27FC236}">
                <a16:creationId xmlns:a16="http://schemas.microsoft.com/office/drawing/2014/main" id="{0F1B99D4-97D0-0D88-B1D3-A3634391F1E4}"/>
              </a:ext>
            </a:extLst>
          </p:cNvPr>
          <p:cNvSpPr txBox="1"/>
          <p:nvPr/>
        </p:nvSpPr>
        <p:spPr>
          <a:xfrm>
            <a:off x="6354226" y="3347641"/>
            <a:ext cx="5348205" cy="2154436"/>
          </a:xfrm>
          <a:prstGeom prst="rect">
            <a:avLst/>
          </a:prstGeom>
          <a:noFill/>
        </p:spPr>
        <p:txBody>
          <a:bodyPr wrap="square" lIns="0" tIns="0" rIns="0" bIns="0" rtlCol="0">
            <a:spAutoFit/>
          </a:bodyPr>
          <a:lstStyle/>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Automobilindustrie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Finanzsektor</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Naturwissenschaft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p:txBody>
      </p:sp>
      <p:sp>
        <p:nvSpPr>
          <p:cNvPr id="38" name="TextBox 37">
            <a:extLst>
              <a:ext uri="{FF2B5EF4-FFF2-40B4-BE49-F238E27FC236}">
                <a16:creationId xmlns:a16="http://schemas.microsoft.com/office/drawing/2014/main" id="{47F81122-4BFA-7B34-34F9-61009A96AFF7}"/>
              </a:ext>
            </a:extLst>
          </p:cNvPr>
          <p:cNvSpPr txBox="1"/>
          <p:nvPr/>
        </p:nvSpPr>
        <p:spPr>
          <a:xfrm>
            <a:off x="6354226" y="5954879"/>
            <a:ext cx="5348205" cy="153888"/>
          </a:xfrm>
          <a:prstGeom prst="rect">
            <a:avLst/>
          </a:prstGeom>
          <a:noFill/>
        </p:spPr>
        <p:txBody>
          <a:bodyPr wrap="square" lIns="0" tIns="0" rIns="0" bIns="0" rtlCol="0">
            <a:spAutoFit/>
          </a:bodyPr>
          <a:lstStyle/>
          <a:p>
            <a:r>
              <a:rPr lang="sv-SE" sz="1000" dirty="0">
                <a:latin typeface="Aptos" panose="020B0004020202020204" pitchFamily="34" charset="0"/>
              </a:rPr>
              <a:t>Kunde AG, Kunde Solutions GmbH, Beispiel Kunde SE, Kunde Ltd.</a:t>
            </a:r>
          </a:p>
        </p:txBody>
      </p:sp>
      <p:sp>
        <p:nvSpPr>
          <p:cNvPr id="39" name="Picture Placeholder 2">
            <a:extLst>
              <a:ext uri="{FF2B5EF4-FFF2-40B4-BE49-F238E27FC236}">
                <a16:creationId xmlns:a16="http://schemas.microsoft.com/office/drawing/2014/main" id="{C3517CBC-24FB-3184-151D-EE74050DAE88}"/>
              </a:ext>
            </a:extLst>
          </p:cNvPr>
          <p:cNvSpPr>
            <a:spLocks noGrp="1"/>
          </p:cNvSpPr>
          <p:nvPr>
            <p:ph type="pic" sz="quarter" idx="10"/>
          </p:nvPr>
        </p:nvSpPr>
        <p:spPr>
          <a:xfrm>
            <a:off x="502921" y="1611125"/>
            <a:ext cx="1260000" cy="1260000"/>
          </a:xfrm>
        </p:spPr>
        <p:txBody>
          <a:bodyPr/>
          <a:lstStyle/>
          <a:p>
            <a:endParaRPr lang="de-DE"/>
          </a:p>
        </p:txBody>
      </p:sp>
    </p:spTree>
    <p:extLst>
      <p:ext uri="{BB962C8B-B14F-4D97-AF65-F5344CB8AC3E}">
        <p14:creationId xmlns:p14="http://schemas.microsoft.com/office/powerpoint/2010/main" val="3637642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603928A1-E4CE-168F-4C71-6E2EC9068324}"/>
              </a:ext>
            </a:extLst>
          </p:cNvPr>
          <p:cNvSpPr>
            <a:spLocks noGrp="1"/>
          </p:cNvSpPr>
          <p:nvPr>
            <p:ph type="body" sz="quarter" idx="13"/>
          </p:nvPr>
        </p:nvSpPr>
        <p:spPr>
          <a:xfrm>
            <a:off x="502921" y="651600"/>
            <a:ext cx="11136000" cy="757255"/>
          </a:xfrm>
        </p:spPr>
        <p:txBody>
          <a:bodyPr/>
          <a:lstStyle/>
          <a:p>
            <a:pPr>
              <a:spcAft>
                <a:spcPts val="0"/>
              </a:spcAft>
            </a:pPr>
            <a:r>
              <a:rPr lang="de-DE" dirty="0">
                <a:latin typeface="Aptos" panose="020B0004020202020204" pitchFamily="34" charset="0"/>
              </a:rPr>
              <a:t>First Name Last Name</a:t>
            </a:r>
          </a:p>
          <a:p>
            <a:pPr>
              <a:spcAft>
                <a:spcPts val="0"/>
              </a:spcAft>
            </a:pPr>
            <a:r>
              <a:rPr lang="de-DE" dirty="0">
                <a:latin typeface="Aptos" panose="020B0004020202020204" pitchFamily="34" charset="0"/>
              </a:rPr>
              <a:t>Project </a:t>
            </a:r>
            <a:r>
              <a:rPr lang="de-DE" dirty="0" err="1">
                <a:latin typeface="Aptos" panose="020B0004020202020204" pitchFamily="34" charset="0"/>
              </a:rPr>
              <a:t>Role</a:t>
            </a:r>
            <a:endParaRPr lang="de-DE" dirty="0">
              <a:latin typeface="Aptos" panose="020B0004020202020204" pitchFamily="34" charset="0"/>
            </a:endParaRPr>
          </a:p>
        </p:txBody>
      </p:sp>
      <p:sp>
        <p:nvSpPr>
          <p:cNvPr id="5" name="Title 2">
            <a:extLst>
              <a:ext uri="{FF2B5EF4-FFF2-40B4-BE49-F238E27FC236}">
                <a16:creationId xmlns:a16="http://schemas.microsoft.com/office/drawing/2014/main" id="{6ACD5DD4-D175-E250-13A5-4E8A3773D4F3}"/>
              </a:ext>
            </a:extLst>
          </p:cNvPr>
          <p:cNvSpPr>
            <a:spLocks noGrp="1"/>
          </p:cNvSpPr>
          <p:nvPr>
            <p:ph type="title"/>
          </p:nvPr>
        </p:nvSpPr>
        <p:spPr>
          <a:xfrm>
            <a:off x="502921" y="320042"/>
            <a:ext cx="11136000" cy="331559"/>
          </a:xfrm>
        </p:spPr>
        <p:txBody>
          <a:bodyPr/>
          <a:lstStyle/>
          <a:p>
            <a:r>
              <a:rPr lang="de-DE" dirty="0">
                <a:latin typeface="Aptos" panose="020B0004020202020204" pitchFamily="34" charset="0"/>
              </a:rPr>
              <a:t>Profile</a:t>
            </a:r>
          </a:p>
        </p:txBody>
      </p:sp>
      <p:sp>
        <p:nvSpPr>
          <p:cNvPr id="6" name="Text Placeholder 7">
            <a:extLst>
              <a:ext uri="{FF2B5EF4-FFF2-40B4-BE49-F238E27FC236}">
                <a16:creationId xmlns:a16="http://schemas.microsoft.com/office/drawing/2014/main" id="{1106447A-822D-7DD7-05A4-8289A58B5962}"/>
              </a:ext>
            </a:extLst>
          </p:cNvPr>
          <p:cNvSpPr txBox="1">
            <a:spLocks/>
          </p:cNvSpPr>
          <p:nvPr/>
        </p:nvSpPr>
        <p:spPr>
          <a:xfrm>
            <a:off x="868826" y="3371333"/>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Bef>
                <a:spcPts val="600"/>
              </a:spcBef>
              <a:defRPr/>
            </a:pPr>
            <a:r>
              <a:rPr lang="en-US" sz="1200" dirty="0">
                <a:latin typeface="Aptos" panose="020B0004020202020204" pitchFamily="34" charset="0"/>
              </a:rPr>
              <a:t>Business Skills</a:t>
            </a:r>
            <a:endParaRPr lang="en-US" dirty="0">
              <a:latin typeface="Aptos" panose="020B0004020202020204" pitchFamily="34" charset="0"/>
            </a:endParaRP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Rewards Optimization</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Secure Application Development</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Blockchain Platform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Investment Management</a:t>
            </a:r>
          </a:p>
          <a:p>
            <a:pPr>
              <a:spcBef>
                <a:spcPts val="600"/>
              </a:spcBef>
              <a:defRPr/>
            </a:pPr>
            <a:r>
              <a:rPr lang="en-US" sz="1200" dirty="0">
                <a:latin typeface="Aptos" panose="020B0004020202020204" pitchFamily="34" charset="0"/>
              </a:rPr>
              <a:t>Technology Skills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Data Warehouse Integrations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Temenos: CRM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S/4HANA Cloud – Finance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Agile 101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Microsoft C#</a:t>
            </a:r>
          </a:p>
          <a:p>
            <a:pPr>
              <a:spcBef>
                <a:spcPts val="600"/>
              </a:spcBef>
              <a:defRPr/>
            </a:pPr>
            <a:r>
              <a:rPr lang="en-US" sz="1200" dirty="0">
                <a:latin typeface="Aptos" panose="020B0004020202020204" pitchFamily="34" charset="0"/>
              </a:rPr>
              <a:t>Languages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English C1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French B1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German C2</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Polish A2</a:t>
            </a:r>
          </a:p>
        </p:txBody>
      </p:sp>
      <p:sp>
        <p:nvSpPr>
          <p:cNvPr id="7" name="Text Placeholder 8">
            <a:extLst>
              <a:ext uri="{FF2B5EF4-FFF2-40B4-BE49-F238E27FC236}">
                <a16:creationId xmlns:a16="http://schemas.microsoft.com/office/drawing/2014/main" id="{F87BB23C-3C17-3CA6-EB0E-E0BDA2ACB854}"/>
              </a:ext>
            </a:extLst>
          </p:cNvPr>
          <p:cNvSpPr txBox="1">
            <a:spLocks/>
          </p:cNvSpPr>
          <p:nvPr/>
        </p:nvSpPr>
        <p:spPr>
          <a:xfrm>
            <a:off x="3350521" y="3371333"/>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Bef>
                <a:spcPts val="600"/>
              </a:spcBef>
              <a:defRPr/>
            </a:pPr>
            <a:r>
              <a:rPr lang="en-US" sz="1200" dirty="0">
                <a:latin typeface="Aptos" panose="020B0004020202020204" pitchFamily="34" charset="0"/>
              </a:rPr>
              <a:t>Industry Experience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Industrial Machinery and Components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Automotive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Health Care Providers</a:t>
            </a:r>
          </a:p>
          <a:p>
            <a:pPr>
              <a:spcBef>
                <a:spcPts val="600"/>
              </a:spcBef>
              <a:defRPr/>
            </a:pPr>
            <a:r>
              <a:rPr lang="en-US" sz="1200" dirty="0">
                <a:latin typeface="Aptos" panose="020B0004020202020204" pitchFamily="34" charset="0"/>
              </a:rPr>
              <a:t>Certificates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Certified Associate Project Manager</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Certified Management Accountant </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Scrum Master</a:t>
            </a:r>
          </a:p>
          <a:p>
            <a:pPr>
              <a:spcBef>
                <a:spcPts val="600"/>
              </a:spcBef>
              <a:defRPr/>
            </a:pPr>
            <a:r>
              <a:rPr lang="en-US" sz="1200" dirty="0">
                <a:latin typeface="Aptos" panose="020B0004020202020204" pitchFamily="34" charset="0"/>
              </a:rPr>
              <a:t>Education</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Master’s degree,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Computer Science,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Example University, </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Example City</a:t>
            </a:r>
          </a:p>
        </p:txBody>
      </p:sp>
      <p:grpSp>
        <p:nvGrpSpPr>
          <p:cNvPr id="8" name="Group 7">
            <a:extLst>
              <a:ext uri="{FF2B5EF4-FFF2-40B4-BE49-F238E27FC236}">
                <a16:creationId xmlns:a16="http://schemas.microsoft.com/office/drawing/2014/main" id="{EDD31A4D-8AF6-D723-DC49-CAB3B8655642}"/>
              </a:ext>
            </a:extLst>
          </p:cNvPr>
          <p:cNvGrpSpPr/>
          <p:nvPr/>
        </p:nvGrpSpPr>
        <p:grpSpPr>
          <a:xfrm>
            <a:off x="502921" y="3000022"/>
            <a:ext cx="5146113" cy="371888"/>
            <a:chOff x="535855" y="3075545"/>
            <a:chExt cx="5146113" cy="371888"/>
          </a:xfrm>
        </p:grpSpPr>
        <p:cxnSp>
          <p:nvCxnSpPr>
            <p:cNvPr id="9" name="Straight Connector 8">
              <a:extLst>
                <a:ext uri="{FF2B5EF4-FFF2-40B4-BE49-F238E27FC236}">
                  <a16:creationId xmlns:a16="http://schemas.microsoft.com/office/drawing/2014/main" id="{0230F1DC-919F-0397-F44A-99B3EAE2A8D9}"/>
                </a:ext>
              </a:extLst>
            </p:cNvPr>
            <p:cNvCxnSpPr/>
            <p:nvPr userDrawn="1"/>
          </p:nvCxnSpPr>
          <p:spPr>
            <a:xfrm>
              <a:off x="965968" y="3369135"/>
              <a:ext cx="4716000" cy="2548"/>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D805D2A-CB0C-FFF0-9E09-16CFF4FDB2A2}"/>
                </a:ext>
              </a:extLst>
            </p:cNvPr>
            <p:cNvSpPr txBox="1"/>
            <p:nvPr userDrawn="1"/>
          </p:nvSpPr>
          <p:spPr>
            <a:xfrm>
              <a:off x="962826" y="3180622"/>
              <a:ext cx="4687001"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Key Skills</a:t>
              </a:r>
              <a:endParaRPr lang="en-US" sz="1200" b="1" noProof="0" dirty="0">
                <a:latin typeface="Aptos" panose="020B000402020202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26E6A8CA-D447-9BEF-2E8D-F87F96E9F968}"/>
                </a:ext>
              </a:extLst>
            </p:cNvPr>
            <p:cNvPicPr>
              <a:picLocks noChangeAspect="1"/>
            </p:cNvPicPr>
            <p:nvPr/>
          </p:nvPicPr>
          <p:blipFill>
            <a:blip r:embed="rId2"/>
            <a:stretch>
              <a:fillRect/>
            </a:stretch>
          </p:blipFill>
          <p:spPr>
            <a:xfrm>
              <a:off x="535855" y="3075545"/>
              <a:ext cx="365792" cy="371888"/>
            </a:xfrm>
            <a:prstGeom prst="rect">
              <a:avLst/>
            </a:prstGeom>
          </p:spPr>
        </p:pic>
      </p:grpSp>
      <p:grpSp>
        <p:nvGrpSpPr>
          <p:cNvPr id="12" name="Group 11">
            <a:extLst>
              <a:ext uri="{FF2B5EF4-FFF2-40B4-BE49-F238E27FC236}">
                <a16:creationId xmlns:a16="http://schemas.microsoft.com/office/drawing/2014/main" id="{6D3140D9-F7D7-3F2E-F95D-3A29ADF9B40E}"/>
              </a:ext>
            </a:extLst>
          </p:cNvPr>
          <p:cNvGrpSpPr/>
          <p:nvPr/>
        </p:nvGrpSpPr>
        <p:grpSpPr>
          <a:xfrm>
            <a:off x="5915606" y="2993698"/>
            <a:ext cx="5786825" cy="369021"/>
            <a:chOff x="5913085" y="3078365"/>
            <a:chExt cx="5786825" cy="369021"/>
          </a:xfrm>
        </p:grpSpPr>
        <p:cxnSp>
          <p:nvCxnSpPr>
            <p:cNvPr id="13" name="Straight Connector 12">
              <a:extLst>
                <a:ext uri="{FF2B5EF4-FFF2-40B4-BE49-F238E27FC236}">
                  <a16:creationId xmlns:a16="http://schemas.microsoft.com/office/drawing/2014/main" id="{D75E279B-535A-A3FB-3BD7-CDD844176BD8}"/>
                </a:ext>
              </a:extLst>
            </p:cNvPr>
            <p:cNvCxnSpPr/>
            <p:nvPr userDrawn="1"/>
          </p:nvCxnSpPr>
          <p:spPr>
            <a:xfrm>
              <a:off x="6335910" y="3371211"/>
              <a:ext cx="5364000" cy="472"/>
            </a:xfrm>
            <a:prstGeom prst="line">
              <a:avLst/>
            </a:prstGeom>
            <a:ln/>
            <a:effectLst/>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113AA9EE-0045-5B98-9FB4-E67FB3B061C4}"/>
                </a:ext>
              </a:extLst>
            </p:cNvPr>
            <p:cNvGrpSpPr/>
            <p:nvPr/>
          </p:nvGrpSpPr>
          <p:grpSpPr>
            <a:xfrm>
              <a:off x="5913085" y="3078365"/>
              <a:ext cx="5769187" cy="369021"/>
              <a:chOff x="5913085" y="3078365"/>
              <a:chExt cx="5769187" cy="369021"/>
            </a:xfrm>
          </p:grpSpPr>
          <p:grpSp>
            <p:nvGrpSpPr>
              <p:cNvPr id="15" name="Group 675">
                <a:extLst>
                  <a:ext uri="{FF2B5EF4-FFF2-40B4-BE49-F238E27FC236}">
                    <a16:creationId xmlns:a16="http://schemas.microsoft.com/office/drawing/2014/main" id="{10FE5F28-198E-CB43-79BB-34A98EF3C803}"/>
                  </a:ext>
                </a:extLst>
              </p:cNvPr>
              <p:cNvGrpSpPr>
                <a:grpSpLocks noChangeAspect="1"/>
              </p:cNvGrpSpPr>
              <p:nvPr userDrawn="1"/>
            </p:nvGrpSpPr>
            <p:grpSpPr bwMode="gray">
              <a:xfrm>
                <a:off x="5913085" y="3078365"/>
                <a:ext cx="369021" cy="369021"/>
                <a:chOff x="6583" y="2681"/>
                <a:chExt cx="340" cy="340"/>
              </a:xfrm>
              <a:solidFill>
                <a:schemeClr val="accent1"/>
              </a:solidFill>
            </p:grpSpPr>
            <p:sp>
              <p:nvSpPr>
                <p:cNvPr id="17" name="Freeform 676">
                  <a:extLst>
                    <a:ext uri="{FF2B5EF4-FFF2-40B4-BE49-F238E27FC236}">
                      <a16:creationId xmlns:a16="http://schemas.microsoft.com/office/drawing/2014/main" id="{665A80A2-718D-80B6-350A-9DCD20D5043C}"/>
                    </a:ext>
                  </a:extLst>
                </p:cNvPr>
                <p:cNvSpPr>
                  <a:spLocks noEditPoints="1"/>
                </p:cNvSpPr>
                <p:nvPr/>
              </p:nvSpPr>
              <p:spPr bwMode="gray">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8" name="Freeform 677">
                  <a:extLst>
                    <a:ext uri="{FF2B5EF4-FFF2-40B4-BE49-F238E27FC236}">
                      <a16:creationId xmlns:a16="http://schemas.microsoft.com/office/drawing/2014/main" id="{F84558A8-C462-DA3C-AC50-C5B67B9254DC}"/>
                    </a:ext>
                  </a:extLst>
                </p:cNvPr>
                <p:cNvSpPr>
                  <a:spLocks noEditPoints="1"/>
                </p:cNvSpPr>
                <p:nvPr/>
              </p:nvSpPr>
              <p:spPr bwMode="gray">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19" name="Freeform 678">
                  <a:extLst>
                    <a:ext uri="{FF2B5EF4-FFF2-40B4-BE49-F238E27FC236}">
                      <a16:creationId xmlns:a16="http://schemas.microsoft.com/office/drawing/2014/main" id="{568BF068-47AB-1419-CC6E-023510D69256}"/>
                    </a:ext>
                  </a:extLst>
                </p:cNvPr>
                <p:cNvSpPr>
                  <a:spLocks noEditPoints="1"/>
                </p:cNvSpPr>
                <p:nvPr/>
              </p:nvSpPr>
              <p:spPr bwMode="gray">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sp>
            <p:nvSpPr>
              <p:cNvPr id="16" name="TextBox 15">
                <a:extLst>
                  <a:ext uri="{FF2B5EF4-FFF2-40B4-BE49-F238E27FC236}">
                    <a16:creationId xmlns:a16="http://schemas.microsoft.com/office/drawing/2014/main" id="{6099D620-1A29-6AD8-78DE-24EAD9C50D31}"/>
                  </a:ext>
                </a:extLst>
              </p:cNvPr>
              <p:cNvSpPr txBox="1"/>
              <p:nvPr userDrawn="1"/>
            </p:nvSpPr>
            <p:spPr>
              <a:xfrm>
                <a:off x="6353548" y="3178140"/>
                <a:ext cx="5328724"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a:latin typeface="Aptos" panose="020B0004020202020204" pitchFamily="34" charset="0"/>
                    <a:cs typeface="Calibri" panose="020F0502020204030204" pitchFamily="34" charset="0"/>
                  </a:rPr>
                  <a:t>Relevant experience</a:t>
                </a:r>
              </a:p>
            </p:txBody>
          </p:sp>
        </p:grpSp>
      </p:grpSp>
      <p:grpSp>
        <p:nvGrpSpPr>
          <p:cNvPr id="20" name="Group 19">
            <a:extLst>
              <a:ext uri="{FF2B5EF4-FFF2-40B4-BE49-F238E27FC236}">
                <a16:creationId xmlns:a16="http://schemas.microsoft.com/office/drawing/2014/main" id="{9E0B820A-FB7E-58B8-A1C4-3D0B25E3A20C}"/>
              </a:ext>
            </a:extLst>
          </p:cNvPr>
          <p:cNvGrpSpPr/>
          <p:nvPr/>
        </p:nvGrpSpPr>
        <p:grpSpPr>
          <a:xfrm>
            <a:off x="5915582" y="5621902"/>
            <a:ext cx="5890679" cy="367041"/>
            <a:chOff x="5913061" y="5560265"/>
            <a:chExt cx="5890679" cy="367041"/>
          </a:xfrm>
        </p:grpSpPr>
        <p:grpSp>
          <p:nvGrpSpPr>
            <p:cNvPr id="21" name="Group 192">
              <a:extLst>
                <a:ext uri="{FF2B5EF4-FFF2-40B4-BE49-F238E27FC236}">
                  <a16:creationId xmlns:a16="http://schemas.microsoft.com/office/drawing/2014/main" id="{5A74B562-4647-AB4D-179B-D858292F38D0}"/>
                </a:ext>
              </a:extLst>
            </p:cNvPr>
            <p:cNvGrpSpPr>
              <a:grpSpLocks noChangeAspect="1"/>
            </p:cNvGrpSpPr>
            <p:nvPr userDrawn="1"/>
          </p:nvGrpSpPr>
          <p:grpSpPr bwMode="gray">
            <a:xfrm>
              <a:off x="5913061" y="5560265"/>
              <a:ext cx="367041" cy="367041"/>
              <a:chOff x="378" y="713"/>
              <a:chExt cx="340" cy="340"/>
            </a:xfrm>
            <a:solidFill>
              <a:schemeClr val="accent1"/>
            </a:solidFill>
          </p:grpSpPr>
          <p:sp>
            <p:nvSpPr>
              <p:cNvPr id="24" name="Freeform 193">
                <a:extLst>
                  <a:ext uri="{FF2B5EF4-FFF2-40B4-BE49-F238E27FC236}">
                    <a16:creationId xmlns:a16="http://schemas.microsoft.com/office/drawing/2014/main" id="{E1C2A99C-370F-705C-CB33-9BDEB46852D5}"/>
                  </a:ext>
                </a:extLst>
              </p:cNvPr>
              <p:cNvSpPr>
                <a:spLocks noEditPoints="1"/>
              </p:cNvSpPr>
              <p:nvPr/>
            </p:nvSpPr>
            <p:spPr bwMode="gray">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5" name="Freeform 194">
                <a:extLst>
                  <a:ext uri="{FF2B5EF4-FFF2-40B4-BE49-F238E27FC236}">
                    <a16:creationId xmlns:a16="http://schemas.microsoft.com/office/drawing/2014/main" id="{172D9A9C-C364-93DC-ABB8-222FC713E462}"/>
                  </a:ext>
                </a:extLst>
              </p:cNvPr>
              <p:cNvSpPr>
                <a:spLocks noEditPoints="1"/>
              </p:cNvSpPr>
              <p:nvPr/>
            </p:nvSpPr>
            <p:spPr bwMode="gray">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cxnSp>
          <p:nvCxnSpPr>
            <p:cNvPr id="22" name="Straight Connector 21">
              <a:extLst>
                <a:ext uri="{FF2B5EF4-FFF2-40B4-BE49-F238E27FC236}">
                  <a16:creationId xmlns:a16="http://schemas.microsoft.com/office/drawing/2014/main" id="{DE045B5A-0DC6-4530-FEF9-697AFA4D4360}"/>
                </a:ext>
              </a:extLst>
            </p:cNvPr>
            <p:cNvCxnSpPr/>
            <p:nvPr userDrawn="1"/>
          </p:nvCxnSpPr>
          <p:spPr>
            <a:xfrm>
              <a:off x="6337448" y="5852230"/>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382726C5-45CE-4E82-412B-D85213135F60}"/>
                </a:ext>
              </a:extLst>
            </p:cNvPr>
            <p:cNvSpPr txBox="1"/>
            <p:nvPr userDrawn="1"/>
          </p:nvSpPr>
          <p:spPr>
            <a:xfrm>
              <a:off x="6337813" y="5651452"/>
              <a:ext cx="5465927"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Selected</a:t>
              </a:r>
              <a:r>
                <a:rPr lang="en-US" sz="1200" b="1" baseline="0">
                  <a:latin typeface="Aptos" panose="020B0004020202020204" pitchFamily="34" charset="0"/>
                  <a:cs typeface="Calibri" panose="020F0502020204030204" pitchFamily="34" charset="0"/>
                </a:rPr>
                <a:t> Clients</a:t>
              </a:r>
              <a:endParaRPr lang="en-US" sz="1200" b="1" dirty="0">
                <a:latin typeface="Aptos" panose="020B0004020202020204" pitchFamily="34" charset="0"/>
                <a:cs typeface="Calibri" panose="020F0502020204030204" pitchFamily="34" charset="0"/>
              </a:endParaRPr>
            </a:p>
          </p:txBody>
        </p:sp>
      </p:grpSp>
      <p:grpSp>
        <p:nvGrpSpPr>
          <p:cNvPr id="26" name="Group 25">
            <a:extLst>
              <a:ext uri="{FF2B5EF4-FFF2-40B4-BE49-F238E27FC236}">
                <a16:creationId xmlns:a16="http://schemas.microsoft.com/office/drawing/2014/main" id="{C8486BEC-5A5E-71FD-2AB7-FAE2FACCC687}"/>
              </a:ext>
            </a:extLst>
          </p:cNvPr>
          <p:cNvGrpSpPr/>
          <p:nvPr/>
        </p:nvGrpSpPr>
        <p:grpSpPr>
          <a:xfrm>
            <a:off x="5913572" y="1499333"/>
            <a:ext cx="5907432" cy="369021"/>
            <a:chOff x="5911051" y="1613249"/>
            <a:chExt cx="5907432" cy="369021"/>
          </a:xfrm>
        </p:grpSpPr>
        <p:cxnSp>
          <p:nvCxnSpPr>
            <p:cNvPr id="27" name="Straight Connector 26">
              <a:extLst>
                <a:ext uri="{FF2B5EF4-FFF2-40B4-BE49-F238E27FC236}">
                  <a16:creationId xmlns:a16="http://schemas.microsoft.com/office/drawing/2014/main" id="{3CF25DF6-8385-75EA-C510-C2C15533817E}"/>
                </a:ext>
              </a:extLst>
            </p:cNvPr>
            <p:cNvCxnSpPr/>
            <p:nvPr userDrawn="1"/>
          </p:nvCxnSpPr>
          <p:spPr>
            <a:xfrm>
              <a:off x="6335918" y="1906203"/>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FE87F43-60F1-9438-154A-F32310C4A75C}"/>
                </a:ext>
              </a:extLst>
            </p:cNvPr>
            <p:cNvSpPr txBox="1"/>
            <p:nvPr userDrawn="1"/>
          </p:nvSpPr>
          <p:spPr>
            <a:xfrm>
              <a:off x="6351705" y="1705426"/>
              <a:ext cx="5466778"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noProof="0" dirty="0">
                  <a:latin typeface="Aptos" panose="020B0004020202020204" pitchFamily="34" charset="0"/>
                  <a:cs typeface="Calibri" panose="020F0502020204030204" pitchFamily="34" charset="0"/>
                </a:rPr>
                <a:t>Summary of professional experience</a:t>
              </a:r>
            </a:p>
          </p:txBody>
        </p:sp>
        <p:grpSp>
          <p:nvGrpSpPr>
            <p:cNvPr id="29" name="Group 555">
              <a:extLst>
                <a:ext uri="{FF2B5EF4-FFF2-40B4-BE49-F238E27FC236}">
                  <a16:creationId xmlns:a16="http://schemas.microsoft.com/office/drawing/2014/main" id="{E629D2FD-E3F4-F739-AE9D-B851191D1AF0}"/>
                </a:ext>
              </a:extLst>
            </p:cNvPr>
            <p:cNvGrpSpPr>
              <a:grpSpLocks noChangeAspect="1"/>
            </p:cNvGrpSpPr>
            <p:nvPr userDrawn="1"/>
          </p:nvGrpSpPr>
          <p:grpSpPr bwMode="gray">
            <a:xfrm>
              <a:off x="5911051" y="1613249"/>
              <a:ext cx="370106" cy="369021"/>
              <a:chOff x="1130" y="1948"/>
              <a:chExt cx="341" cy="340"/>
            </a:xfrm>
            <a:solidFill>
              <a:schemeClr val="accent1"/>
            </a:solidFill>
          </p:grpSpPr>
          <p:sp>
            <p:nvSpPr>
              <p:cNvPr id="30" name="Freeform 556">
                <a:extLst>
                  <a:ext uri="{FF2B5EF4-FFF2-40B4-BE49-F238E27FC236}">
                    <a16:creationId xmlns:a16="http://schemas.microsoft.com/office/drawing/2014/main" id="{19CF0C0F-B200-B866-6DF2-36E9C61D805E}"/>
                  </a:ext>
                </a:extLst>
              </p:cNvPr>
              <p:cNvSpPr>
                <a:spLocks noEditPoints="1"/>
              </p:cNvSpPr>
              <p:nvPr/>
            </p:nvSpPr>
            <p:spPr bwMode="gray">
              <a:xfrm>
                <a:off x="1130" y="194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1" name="Freeform 557">
                <a:extLst>
                  <a:ext uri="{FF2B5EF4-FFF2-40B4-BE49-F238E27FC236}">
                    <a16:creationId xmlns:a16="http://schemas.microsoft.com/office/drawing/2014/main" id="{A5407692-C412-1A87-15D9-03475302911C}"/>
                  </a:ext>
                </a:extLst>
              </p:cNvPr>
              <p:cNvSpPr>
                <a:spLocks/>
              </p:cNvSpPr>
              <p:nvPr/>
            </p:nvSpPr>
            <p:spPr bwMode="gray">
              <a:xfrm>
                <a:off x="1322" y="2068"/>
                <a:ext cx="85" cy="14"/>
              </a:xfrm>
              <a:custGeom>
                <a:avLst/>
                <a:gdLst>
                  <a:gd name="T0" fmla="*/ 10 w 128"/>
                  <a:gd name="T1" fmla="*/ 21 h 21"/>
                  <a:gd name="T2" fmla="*/ 117 w 128"/>
                  <a:gd name="T3" fmla="*/ 21 h 21"/>
                  <a:gd name="T4" fmla="*/ 128 w 128"/>
                  <a:gd name="T5" fmla="*/ 11 h 21"/>
                  <a:gd name="T6" fmla="*/ 117 w 128"/>
                  <a:gd name="T7" fmla="*/ 0 h 21"/>
                  <a:gd name="T8" fmla="*/ 10 w 128"/>
                  <a:gd name="T9" fmla="*/ 0 h 21"/>
                  <a:gd name="T10" fmla="*/ 0 w 128"/>
                  <a:gd name="T11" fmla="*/ 11 h 21"/>
                  <a:gd name="T12" fmla="*/ 10 w 128"/>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0" y="21"/>
                    </a:moveTo>
                    <a:cubicBezTo>
                      <a:pt x="117" y="21"/>
                      <a:pt x="117" y="21"/>
                      <a:pt x="117" y="21"/>
                    </a:cubicBezTo>
                    <a:cubicBezTo>
                      <a:pt x="123" y="21"/>
                      <a:pt x="128" y="17"/>
                      <a:pt x="128" y="11"/>
                    </a:cubicBezTo>
                    <a:cubicBezTo>
                      <a:pt x="128" y="5"/>
                      <a:pt x="123" y="0"/>
                      <a:pt x="117" y="0"/>
                    </a:cubicBezTo>
                    <a:cubicBezTo>
                      <a:pt x="10" y="0"/>
                      <a:pt x="10" y="0"/>
                      <a:pt x="10" y="0"/>
                    </a:cubicBezTo>
                    <a:cubicBezTo>
                      <a:pt x="4" y="0"/>
                      <a:pt x="0" y="5"/>
                      <a:pt x="0" y="11"/>
                    </a:cubicBezTo>
                    <a:cubicBezTo>
                      <a:pt x="0" y="17"/>
                      <a:pt x="4" y="21"/>
                      <a:pt x="1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2" name="Freeform 558">
                <a:extLst>
                  <a:ext uri="{FF2B5EF4-FFF2-40B4-BE49-F238E27FC236}">
                    <a16:creationId xmlns:a16="http://schemas.microsoft.com/office/drawing/2014/main" id="{32479212-B18F-75C4-7BEC-A5BB76AF4ED9}"/>
                  </a:ext>
                </a:extLst>
              </p:cNvPr>
              <p:cNvSpPr>
                <a:spLocks/>
              </p:cNvSpPr>
              <p:nvPr/>
            </p:nvSpPr>
            <p:spPr bwMode="gray">
              <a:xfrm>
                <a:off x="1322" y="2097"/>
                <a:ext cx="85" cy="14"/>
              </a:xfrm>
              <a:custGeom>
                <a:avLst/>
                <a:gdLst>
                  <a:gd name="T0" fmla="*/ 117 w 128"/>
                  <a:gd name="T1" fmla="*/ 0 h 21"/>
                  <a:gd name="T2" fmla="*/ 10 w 128"/>
                  <a:gd name="T3" fmla="*/ 0 h 21"/>
                  <a:gd name="T4" fmla="*/ 0 w 128"/>
                  <a:gd name="T5" fmla="*/ 10 h 21"/>
                  <a:gd name="T6" fmla="*/ 10 w 128"/>
                  <a:gd name="T7" fmla="*/ 21 h 21"/>
                  <a:gd name="T8" fmla="*/ 117 w 128"/>
                  <a:gd name="T9" fmla="*/ 21 h 21"/>
                  <a:gd name="T10" fmla="*/ 128 w 128"/>
                  <a:gd name="T11" fmla="*/ 10 h 21"/>
                  <a:gd name="T12" fmla="*/ 117 w 128"/>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17" y="0"/>
                    </a:moveTo>
                    <a:cubicBezTo>
                      <a:pt x="10" y="0"/>
                      <a:pt x="10" y="0"/>
                      <a:pt x="10" y="0"/>
                    </a:cubicBezTo>
                    <a:cubicBezTo>
                      <a:pt x="4" y="0"/>
                      <a:pt x="0" y="4"/>
                      <a:pt x="0" y="10"/>
                    </a:cubicBezTo>
                    <a:cubicBezTo>
                      <a:pt x="0" y="16"/>
                      <a:pt x="4" y="21"/>
                      <a:pt x="10" y="21"/>
                    </a:cubicBezTo>
                    <a:cubicBezTo>
                      <a:pt x="117" y="21"/>
                      <a:pt x="117" y="21"/>
                      <a:pt x="117" y="21"/>
                    </a:cubicBezTo>
                    <a:cubicBezTo>
                      <a:pt x="123" y="21"/>
                      <a:pt x="128" y="16"/>
                      <a:pt x="128" y="10"/>
                    </a:cubicBezTo>
                    <a:cubicBezTo>
                      <a:pt x="128" y="4"/>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3" name="Freeform 559">
                <a:extLst>
                  <a:ext uri="{FF2B5EF4-FFF2-40B4-BE49-F238E27FC236}">
                    <a16:creationId xmlns:a16="http://schemas.microsoft.com/office/drawing/2014/main" id="{A205A984-7D1D-3366-AC91-DDEE3180C7CE}"/>
                  </a:ext>
                </a:extLst>
              </p:cNvPr>
              <p:cNvSpPr>
                <a:spLocks/>
              </p:cNvSpPr>
              <p:nvPr/>
            </p:nvSpPr>
            <p:spPr bwMode="gray">
              <a:xfrm>
                <a:off x="1322" y="2125"/>
                <a:ext cx="85" cy="14"/>
              </a:xfrm>
              <a:custGeom>
                <a:avLst/>
                <a:gdLst>
                  <a:gd name="T0" fmla="*/ 117 w 128"/>
                  <a:gd name="T1" fmla="*/ 0 h 22"/>
                  <a:gd name="T2" fmla="*/ 10 w 128"/>
                  <a:gd name="T3" fmla="*/ 0 h 22"/>
                  <a:gd name="T4" fmla="*/ 0 w 128"/>
                  <a:gd name="T5" fmla="*/ 11 h 22"/>
                  <a:gd name="T6" fmla="*/ 10 w 128"/>
                  <a:gd name="T7" fmla="*/ 22 h 22"/>
                  <a:gd name="T8" fmla="*/ 117 w 128"/>
                  <a:gd name="T9" fmla="*/ 22 h 22"/>
                  <a:gd name="T10" fmla="*/ 128 w 128"/>
                  <a:gd name="T11" fmla="*/ 11 h 22"/>
                  <a:gd name="T12" fmla="*/ 117 w 128"/>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28" h="22">
                    <a:moveTo>
                      <a:pt x="117" y="0"/>
                    </a:moveTo>
                    <a:cubicBezTo>
                      <a:pt x="10" y="0"/>
                      <a:pt x="10" y="0"/>
                      <a:pt x="10" y="0"/>
                    </a:cubicBezTo>
                    <a:cubicBezTo>
                      <a:pt x="4" y="0"/>
                      <a:pt x="0" y="5"/>
                      <a:pt x="0" y="11"/>
                    </a:cubicBezTo>
                    <a:cubicBezTo>
                      <a:pt x="0" y="17"/>
                      <a:pt x="4" y="22"/>
                      <a:pt x="10" y="22"/>
                    </a:cubicBezTo>
                    <a:cubicBezTo>
                      <a:pt x="117" y="22"/>
                      <a:pt x="117" y="22"/>
                      <a:pt x="117" y="22"/>
                    </a:cubicBezTo>
                    <a:cubicBezTo>
                      <a:pt x="123" y="22"/>
                      <a:pt x="128" y="17"/>
                      <a:pt x="128" y="11"/>
                    </a:cubicBezTo>
                    <a:cubicBezTo>
                      <a:pt x="128" y="5"/>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4" name="Freeform 560">
                <a:extLst>
                  <a:ext uri="{FF2B5EF4-FFF2-40B4-BE49-F238E27FC236}">
                    <a16:creationId xmlns:a16="http://schemas.microsoft.com/office/drawing/2014/main" id="{3E13D52C-D9AD-E708-67D4-4D6BD95AB8ED}"/>
                  </a:ext>
                </a:extLst>
              </p:cNvPr>
              <p:cNvSpPr>
                <a:spLocks/>
              </p:cNvSpPr>
              <p:nvPr/>
            </p:nvSpPr>
            <p:spPr bwMode="gray">
              <a:xfrm>
                <a:off x="1193" y="2051"/>
                <a:ext cx="143" cy="139"/>
              </a:xfrm>
              <a:custGeom>
                <a:avLst/>
                <a:gdLst>
                  <a:gd name="T0" fmla="*/ 209 w 216"/>
                  <a:gd name="T1" fmla="*/ 187 h 209"/>
                  <a:gd name="T2" fmla="*/ 173 w 216"/>
                  <a:gd name="T3" fmla="*/ 179 h 209"/>
                  <a:gd name="T4" fmla="*/ 156 w 216"/>
                  <a:gd name="T5" fmla="*/ 176 h 209"/>
                  <a:gd name="T6" fmla="*/ 145 w 216"/>
                  <a:gd name="T7" fmla="*/ 147 h 209"/>
                  <a:gd name="T8" fmla="*/ 167 w 216"/>
                  <a:gd name="T9" fmla="*/ 96 h 209"/>
                  <a:gd name="T10" fmla="*/ 157 w 216"/>
                  <a:gd name="T11" fmla="*/ 22 h 209"/>
                  <a:gd name="T12" fmla="*/ 109 w 216"/>
                  <a:gd name="T13" fmla="*/ 0 h 209"/>
                  <a:gd name="T14" fmla="*/ 59 w 216"/>
                  <a:gd name="T15" fmla="*/ 22 h 209"/>
                  <a:gd name="T16" fmla="*/ 50 w 216"/>
                  <a:gd name="T17" fmla="*/ 96 h 209"/>
                  <a:gd name="T18" fmla="*/ 72 w 216"/>
                  <a:gd name="T19" fmla="*/ 147 h 209"/>
                  <a:gd name="T20" fmla="*/ 61 w 216"/>
                  <a:gd name="T21" fmla="*/ 176 h 209"/>
                  <a:gd name="T22" fmla="*/ 43 w 216"/>
                  <a:gd name="T23" fmla="*/ 179 h 209"/>
                  <a:gd name="T24" fmla="*/ 7 w 216"/>
                  <a:gd name="T25" fmla="*/ 187 h 209"/>
                  <a:gd name="T26" fmla="*/ 3 w 216"/>
                  <a:gd name="T27" fmla="*/ 202 h 209"/>
                  <a:gd name="T28" fmla="*/ 17 w 216"/>
                  <a:gd name="T29" fmla="*/ 206 h 209"/>
                  <a:gd name="T30" fmla="*/ 45 w 216"/>
                  <a:gd name="T31" fmla="*/ 201 h 209"/>
                  <a:gd name="T32" fmla="*/ 70 w 216"/>
                  <a:gd name="T33" fmla="*/ 196 h 209"/>
                  <a:gd name="T34" fmla="*/ 91 w 216"/>
                  <a:gd name="T35" fmla="*/ 163 h 209"/>
                  <a:gd name="T36" fmla="*/ 90 w 216"/>
                  <a:gd name="T37" fmla="*/ 135 h 209"/>
                  <a:gd name="T38" fmla="*/ 71 w 216"/>
                  <a:gd name="T39" fmla="*/ 91 h 209"/>
                  <a:gd name="T40" fmla="*/ 76 w 216"/>
                  <a:gd name="T41" fmla="*/ 36 h 209"/>
                  <a:gd name="T42" fmla="*/ 109 w 216"/>
                  <a:gd name="T43" fmla="*/ 22 h 209"/>
                  <a:gd name="T44" fmla="*/ 141 w 216"/>
                  <a:gd name="T45" fmla="*/ 36 h 209"/>
                  <a:gd name="T46" fmla="*/ 146 w 216"/>
                  <a:gd name="T47" fmla="*/ 91 h 209"/>
                  <a:gd name="T48" fmla="*/ 127 w 216"/>
                  <a:gd name="T49" fmla="*/ 135 h 209"/>
                  <a:gd name="T50" fmla="*/ 125 w 216"/>
                  <a:gd name="T51" fmla="*/ 163 h 209"/>
                  <a:gd name="T52" fmla="*/ 146 w 216"/>
                  <a:gd name="T53" fmla="*/ 196 h 209"/>
                  <a:gd name="T54" fmla="*/ 171 w 216"/>
                  <a:gd name="T55" fmla="*/ 201 h 209"/>
                  <a:gd name="T56" fmla="*/ 199 w 216"/>
                  <a:gd name="T57" fmla="*/ 206 h 209"/>
                  <a:gd name="T58" fmla="*/ 204 w 216"/>
                  <a:gd name="T59" fmla="*/ 207 h 209"/>
                  <a:gd name="T60" fmla="*/ 214 w 216"/>
                  <a:gd name="T61" fmla="*/ 202 h 209"/>
                  <a:gd name="T62" fmla="*/ 209 w 216"/>
                  <a:gd name="T63" fmla="*/ 18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209">
                    <a:moveTo>
                      <a:pt x="209" y="187"/>
                    </a:moveTo>
                    <a:cubicBezTo>
                      <a:pt x="199" y="182"/>
                      <a:pt x="185" y="180"/>
                      <a:pt x="173" y="179"/>
                    </a:cubicBezTo>
                    <a:cubicBezTo>
                      <a:pt x="166" y="179"/>
                      <a:pt x="158" y="178"/>
                      <a:pt x="156" y="176"/>
                    </a:cubicBezTo>
                    <a:cubicBezTo>
                      <a:pt x="149" y="173"/>
                      <a:pt x="143" y="153"/>
                      <a:pt x="145" y="147"/>
                    </a:cubicBezTo>
                    <a:cubicBezTo>
                      <a:pt x="153" y="134"/>
                      <a:pt x="162" y="114"/>
                      <a:pt x="167" y="96"/>
                    </a:cubicBezTo>
                    <a:cubicBezTo>
                      <a:pt x="174" y="64"/>
                      <a:pt x="171" y="39"/>
                      <a:pt x="157" y="22"/>
                    </a:cubicBezTo>
                    <a:cubicBezTo>
                      <a:pt x="139" y="0"/>
                      <a:pt x="109" y="0"/>
                      <a:pt x="109" y="0"/>
                    </a:cubicBezTo>
                    <a:cubicBezTo>
                      <a:pt x="107" y="0"/>
                      <a:pt x="78" y="0"/>
                      <a:pt x="59" y="22"/>
                    </a:cubicBezTo>
                    <a:cubicBezTo>
                      <a:pt x="45" y="39"/>
                      <a:pt x="42" y="64"/>
                      <a:pt x="50" y="96"/>
                    </a:cubicBezTo>
                    <a:cubicBezTo>
                      <a:pt x="54" y="114"/>
                      <a:pt x="63" y="134"/>
                      <a:pt x="72" y="147"/>
                    </a:cubicBezTo>
                    <a:cubicBezTo>
                      <a:pt x="73" y="153"/>
                      <a:pt x="67" y="173"/>
                      <a:pt x="61" y="176"/>
                    </a:cubicBezTo>
                    <a:cubicBezTo>
                      <a:pt x="58" y="178"/>
                      <a:pt x="50" y="179"/>
                      <a:pt x="43" y="179"/>
                    </a:cubicBezTo>
                    <a:cubicBezTo>
                      <a:pt x="31" y="180"/>
                      <a:pt x="18" y="182"/>
                      <a:pt x="7" y="187"/>
                    </a:cubicBezTo>
                    <a:cubicBezTo>
                      <a:pt x="2" y="190"/>
                      <a:pt x="0" y="196"/>
                      <a:pt x="3" y="202"/>
                    </a:cubicBezTo>
                    <a:cubicBezTo>
                      <a:pt x="6" y="207"/>
                      <a:pt x="12" y="209"/>
                      <a:pt x="17" y="206"/>
                    </a:cubicBezTo>
                    <a:cubicBezTo>
                      <a:pt x="24" y="202"/>
                      <a:pt x="35" y="201"/>
                      <a:pt x="45" y="201"/>
                    </a:cubicBezTo>
                    <a:cubicBezTo>
                      <a:pt x="55" y="200"/>
                      <a:pt x="64" y="199"/>
                      <a:pt x="70" y="196"/>
                    </a:cubicBezTo>
                    <a:cubicBezTo>
                      <a:pt x="84" y="189"/>
                      <a:pt x="90" y="169"/>
                      <a:pt x="91" y="163"/>
                    </a:cubicBezTo>
                    <a:cubicBezTo>
                      <a:pt x="93" y="154"/>
                      <a:pt x="95" y="142"/>
                      <a:pt x="90" y="135"/>
                    </a:cubicBezTo>
                    <a:cubicBezTo>
                      <a:pt x="82" y="125"/>
                      <a:pt x="74" y="106"/>
                      <a:pt x="71" y="91"/>
                    </a:cubicBezTo>
                    <a:cubicBezTo>
                      <a:pt x="65" y="66"/>
                      <a:pt x="66" y="47"/>
                      <a:pt x="76" y="36"/>
                    </a:cubicBezTo>
                    <a:cubicBezTo>
                      <a:pt x="87" y="21"/>
                      <a:pt x="108" y="21"/>
                      <a:pt x="109" y="22"/>
                    </a:cubicBezTo>
                    <a:cubicBezTo>
                      <a:pt x="109" y="21"/>
                      <a:pt x="129" y="21"/>
                      <a:pt x="141" y="36"/>
                    </a:cubicBezTo>
                    <a:cubicBezTo>
                      <a:pt x="150" y="47"/>
                      <a:pt x="152" y="66"/>
                      <a:pt x="146" y="91"/>
                    </a:cubicBezTo>
                    <a:cubicBezTo>
                      <a:pt x="142" y="106"/>
                      <a:pt x="134" y="125"/>
                      <a:pt x="127" y="135"/>
                    </a:cubicBezTo>
                    <a:cubicBezTo>
                      <a:pt x="122" y="142"/>
                      <a:pt x="123" y="154"/>
                      <a:pt x="125" y="163"/>
                    </a:cubicBezTo>
                    <a:cubicBezTo>
                      <a:pt x="127" y="169"/>
                      <a:pt x="133" y="189"/>
                      <a:pt x="146" y="196"/>
                    </a:cubicBezTo>
                    <a:cubicBezTo>
                      <a:pt x="153" y="199"/>
                      <a:pt x="161" y="200"/>
                      <a:pt x="171" y="201"/>
                    </a:cubicBezTo>
                    <a:cubicBezTo>
                      <a:pt x="181" y="201"/>
                      <a:pt x="192" y="202"/>
                      <a:pt x="199" y="206"/>
                    </a:cubicBezTo>
                    <a:cubicBezTo>
                      <a:pt x="201" y="207"/>
                      <a:pt x="202" y="207"/>
                      <a:pt x="204" y="207"/>
                    </a:cubicBezTo>
                    <a:cubicBezTo>
                      <a:pt x="208" y="207"/>
                      <a:pt x="212" y="205"/>
                      <a:pt x="214" y="202"/>
                    </a:cubicBezTo>
                    <a:cubicBezTo>
                      <a:pt x="216" y="196"/>
                      <a:pt x="214" y="190"/>
                      <a:pt x="209"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grpSp>
      <p:sp>
        <p:nvSpPr>
          <p:cNvPr id="35" name="TextBox 34">
            <a:extLst>
              <a:ext uri="{FF2B5EF4-FFF2-40B4-BE49-F238E27FC236}">
                <a16:creationId xmlns:a16="http://schemas.microsoft.com/office/drawing/2014/main" id="{ECDF925B-875C-DAD8-F829-A7672DB19D90}"/>
              </a:ext>
            </a:extLst>
          </p:cNvPr>
          <p:cNvSpPr txBox="1"/>
          <p:nvPr/>
        </p:nvSpPr>
        <p:spPr>
          <a:xfrm>
            <a:off x="1902932" y="1585251"/>
            <a:ext cx="3678385"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dirty="0">
                <a:ln>
                  <a:noFill/>
                </a:ln>
                <a:effectLst/>
                <a:uLnTx/>
                <a:uFillTx/>
                <a:latin typeface="Aptos" panose="020B0004020202020204" pitchFamily="34" charset="0"/>
                <a:ea typeface="+mn-ea"/>
                <a:cs typeface="+mn-cs"/>
              </a:rPr>
              <a:t>First Name Last Name</a:t>
            </a:r>
            <a:br>
              <a:rPr kumimoji="0" lang="en-US" sz="1800" b="0" i="0" u="none" strike="noStrike" kern="1200" cap="none" spc="0" normalizeH="0" baseline="0" noProof="0" dirty="0">
                <a:ln>
                  <a:noFill/>
                </a:ln>
                <a:effectLst/>
                <a:uLnTx/>
                <a:uFillTx/>
                <a:latin typeface="Aptos" panose="020B0004020202020204" pitchFamily="34" charset="0"/>
                <a:ea typeface="+mn-ea"/>
                <a:cs typeface="+mn-cs"/>
              </a:rPr>
            </a:br>
            <a:r>
              <a:rPr kumimoji="0" lang="en-US" sz="1000" b="0" i="0" u="none" strike="noStrike" kern="1200" cap="none" spc="0" normalizeH="0" baseline="0" noProof="0" dirty="0">
                <a:ln>
                  <a:noFill/>
                </a:ln>
                <a:effectLst/>
                <a:uLnTx/>
                <a:uFillTx/>
                <a:latin typeface="Aptos" panose="020B0004020202020204" pitchFamily="34" charset="0"/>
                <a:ea typeface="+mn-ea"/>
                <a:cs typeface="+mn-cs"/>
              </a:rPr>
              <a:t>Level</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Offering Portfolio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Talent Group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Germany, Office Location</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lang="en-US" sz="1000" dirty="0">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1000" b="0" i="0" u="none" strike="noStrike" kern="1200" cap="none" spc="0" normalizeH="0" baseline="0" noProof="0" dirty="0">
              <a:ln>
                <a:noFill/>
              </a:ln>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US" sz="1000" b="0" i="0" u="none" strike="noStrike" kern="1200" cap="none" spc="0" normalizeH="0" baseline="0" noProof="0" dirty="0">
              <a:ln>
                <a:noFill/>
              </a:ln>
              <a:effectLst/>
              <a:uLnTx/>
              <a:uFillTx/>
              <a:latin typeface="Aptos" panose="020B0004020202020204" pitchFamily="34" charset="0"/>
              <a:ea typeface="+mn-ea"/>
              <a:cs typeface="+mn-cs"/>
            </a:endParaRPr>
          </a:p>
        </p:txBody>
      </p:sp>
      <p:sp>
        <p:nvSpPr>
          <p:cNvPr id="36" name="TextBox 35">
            <a:extLst>
              <a:ext uri="{FF2B5EF4-FFF2-40B4-BE49-F238E27FC236}">
                <a16:creationId xmlns:a16="http://schemas.microsoft.com/office/drawing/2014/main" id="{96105303-9EF4-0025-D823-6BDB0B8E7167}"/>
              </a:ext>
            </a:extLst>
          </p:cNvPr>
          <p:cNvSpPr txBox="1"/>
          <p:nvPr/>
        </p:nvSpPr>
        <p:spPr>
          <a:xfrm>
            <a:off x="6354226" y="1846937"/>
            <a:ext cx="5348205" cy="1231106"/>
          </a:xfrm>
          <a:prstGeom prst="rect">
            <a:avLst/>
          </a:prstGeom>
          <a:noFill/>
        </p:spPr>
        <p:txBody>
          <a:bodyPr wrap="square" lIns="0" tIns="0" rIns="0" bIns="0" rtlCol="0">
            <a:spAutoFit/>
          </a:bodyPr>
          <a:lstStyle/>
          <a:p>
            <a:r>
              <a:rPr lang="en-US" sz="1000" dirty="0">
                <a:latin typeface="Aptos" panose="020B0004020202020204" pitchFamily="34" charset="0"/>
              </a:rPr>
              <a:t>Max has a professional experience of five years, of which he worked three years at Deloitte.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this is dummy text it is not here to be read it is here to show how this document will look when populated with real text. Resume text runs here. </a:t>
            </a:r>
          </a:p>
        </p:txBody>
      </p:sp>
      <p:sp>
        <p:nvSpPr>
          <p:cNvPr id="37" name="TextBox 36">
            <a:extLst>
              <a:ext uri="{FF2B5EF4-FFF2-40B4-BE49-F238E27FC236}">
                <a16:creationId xmlns:a16="http://schemas.microsoft.com/office/drawing/2014/main" id="{1CFBAA07-624C-F5CB-739B-52436655FE1F}"/>
              </a:ext>
            </a:extLst>
          </p:cNvPr>
          <p:cNvSpPr txBox="1"/>
          <p:nvPr/>
        </p:nvSpPr>
        <p:spPr>
          <a:xfrm>
            <a:off x="6354226" y="3347641"/>
            <a:ext cx="5348205" cy="2308324"/>
          </a:xfrm>
          <a:prstGeom prst="rect">
            <a:avLst/>
          </a:prstGeom>
          <a:noFill/>
        </p:spPr>
        <p:txBody>
          <a:bodyPr wrap="square" lIns="0" tIns="0" rIns="0" bIns="0" rtlCol="0">
            <a:spAutoFit/>
          </a:bodyPr>
          <a:lstStyle/>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Automotive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this document will look when populated with real text. This is dummy text it is not here to be read it is here to show how this document will look when populated with real text.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Finance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documents will look when populated with real text. This is dummy text it is not here to be read it is here to show how documents will look.</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a:p>
            <a:pPr marL="176400" lvl="2" indent="-176400">
              <a:spcAft>
                <a:spcPts val="0"/>
              </a:spcAft>
              <a:buFont typeface="Arial" panose="020B0604020202020204" pitchFamily="34" charset="0"/>
              <a:buChar char="•"/>
            </a:pPr>
            <a:r>
              <a:rPr lang="en-US" sz="1000" dirty="0">
                <a:latin typeface="Aptos" panose="020B0004020202020204" pitchFamily="34" charset="0"/>
                <a:cs typeface="Calibri" panose="020F0502020204030204" pitchFamily="34" charset="0"/>
              </a:rPr>
              <a:t>Industry: Life Science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This is dummy text it is not here to be read it is here to show how this document will look when populated with real text. This is dummy text it is not here to be read it is here to show how this document will look when populated.</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Technology: Technology Skill A, Tool B, Method C</a:t>
            </a:r>
          </a:p>
        </p:txBody>
      </p:sp>
      <p:sp>
        <p:nvSpPr>
          <p:cNvPr id="38" name="TextBox 37">
            <a:extLst>
              <a:ext uri="{FF2B5EF4-FFF2-40B4-BE49-F238E27FC236}">
                <a16:creationId xmlns:a16="http://schemas.microsoft.com/office/drawing/2014/main" id="{C0962222-ABAE-A8A9-42C5-561842D4D2A7}"/>
              </a:ext>
            </a:extLst>
          </p:cNvPr>
          <p:cNvSpPr txBox="1"/>
          <p:nvPr/>
        </p:nvSpPr>
        <p:spPr>
          <a:xfrm>
            <a:off x="6354226" y="5954879"/>
            <a:ext cx="5348205" cy="153888"/>
          </a:xfrm>
          <a:prstGeom prst="rect">
            <a:avLst/>
          </a:prstGeom>
          <a:noFill/>
        </p:spPr>
        <p:txBody>
          <a:bodyPr wrap="square" lIns="0" tIns="0" rIns="0" bIns="0" rtlCol="0">
            <a:spAutoFit/>
          </a:bodyPr>
          <a:lstStyle/>
          <a:p>
            <a:r>
              <a:rPr lang="en-US" sz="1000" dirty="0">
                <a:latin typeface="Aptos" panose="020B0004020202020204" pitchFamily="34" charset="0"/>
              </a:rPr>
              <a:t>Client AG, Client Solutions GmbH, Example Client SE, Client Ltd.</a:t>
            </a:r>
          </a:p>
        </p:txBody>
      </p:sp>
      <p:sp>
        <p:nvSpPr>
          <p:cNvPr id="39" name="Picture Placeholder 3">
            <a:extLst>
              <a:ext uri="{FF2B5EF4-FFF2-40B4-BE49-F238E27FC236}">
                <a16:creationId xmlns:a16="http://schemas.microsoft.com/office/drawing/2014/main" id="{3124E648-D774-C250-826C-3152C7FA23C7}"/>
              </a:ext>
            </a:extLst>
          </p:cNvPr>
          <p:cNvSpPr>
            <a:spLocks noGrp="1"/>
          </p:cNvSpPr>
          <p:nvPr>
            <p:ph type="pic" sz="quarter" idx="10"/>
          </p:nvPr>
        </p:nvSpPr>
        <p:spPr>
          <a:xfrm>
            <a:off x="502921" y="1611125"/>
            <a:ext cx="1260000" cy="1260000"/>
          </a:xfrm>
        </p:spPr>
        <p:txBody>
          <a:bodyPr/>
          <a:lstStyle/>
          <a:p>
            <a:endParaRPr lang="de-DE"/>
          </a:p>
        </p:txBody>
      </p:sp>
    </p:spTree>
    <p:extLst>
      <p:ext uri="{BB962C8B-B14F-4D97-AF65-F5344CB8AC3E}">
        <p14:creationId xmlns:p14="http://schemas.microsoft.com/office/powerpoint/2010/main" val="4818505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B85FA31-7A92-0B11-A868-215F8F229AD9}"/>
              </a:ext>
            </a:extLst>
          </p:cNvPr>
          <p:cNvSpPr>
            <a:spLocks noGrp="1"/>
          </p:cNvSpPr>
          <p:nvPr>
            <p:ph type="pic" sz="quarter" idx="10"/>
          </p:nvPr>
        </p:nvSpPr>
        <p:spPr/>
        <p:txBody>
          <a:bodyPr/>
          <a:lstStyle/>
          <a:p>
            <a:endParaRPr lang="de-DE"/>
          </a:p>
        </p:txBody>
      </p:sp>
      <p:sp>
        <p:nvSpPr>
          <p:cNvPr id="7" name="Text Placeholder 1">
            <a:extLst>
              <a:ext uri="{FF2B5EF4-FFF2-40B4-BE49-F238E27FC236}">
                <a16:creationId xmlns:a16="http://schemas.microsoft.com/office/drawing/2014/main" id="{03CF3575-53F6-83F4-FB78-21316C64F9B3}"/>
              </a:ext>
            </a:extLst>
          </p:cNvPr>
          <p:cNvSpPr txBox="1">
            <a:spLocks/>
          </p:cNvSpPr>
          <p:nvPr/>
        </p:nvSpPr>
        <p:spPr>
          <a:xfrm>
            <a:off x="502921" y="651600"/>
            <a:ext cx="11136000" cy="757255"/>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800" b="0" kern="1200">
                <a:solidFill>
                  <a:srgbClr val="575757"/>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spcAft>
                <a:spcPts val="0"/>
              </a:spcAft>
            </a:pPr>
            <a:r>
              <a:rPr lang="de-DE" dirty="0">
                <a:solidFill>
                  <a:schemeClr val="tx2"/>
                </a:solidFill>
                <a:latin typeface="Aptos" panose="020B0004020202020204" pitchFamily="34" charset="0"/>
              </a:rPr>
              <a:t>First Name Last Name</a:t>
            </a:r>
          </a:p>
          <a:p>
            <a:pPr>
              <a:spcAft>
                <a:spcPts val="0"/>
              </a:spcAft>
            </a:pPr>
            <a:r>
              <a:rPr lang="de-DE" dirty="0">
                <a:solidFill>
                  <a:schemeClr val="tx2"/>
                </a:solidFill>
                <a:latin typeface="Aptos" panose="020B0004020202020204" pitchFamily="34" charset="0"/>
              </a:rPr>
              <a:t>Project </a:t>
            </a:r>
            <a:r>
              <a:rPr lang="de-DE" dirty="0" err="1">
                <a:solidFill>
                  <a:schemeClr val="tx2"/>
                </a:solidFill>
                <a:latin typeface="Aptos" panose="020B0004020202020204" pitchFamily="34" charset="0"/>
              </a:rPr>
              <a:t>Role</a:t>
            </a:r>
            <a:endParaRPr lang="de-DE" dirty="0">
              <a:solidFill>
                <a:schemeClr val="tx2"/>
              </a:solidFill>
              <a:latin typeface="Aptos" panose="020B0004020202020204" pitchFamily="34" charset="0"/>
            </a:endParaRPr>
          </a:p>
        </p:txBody>
      </p:sp>
      <p:sp>
        <p:nvSpPr>
          <p:cNvPr id="8" name="Title 2">
            <a:extLst>
              <a:ext uri="{FF2B5EF4-FFF2-40B4-BE49-F238E27FC236}">
                <a16:creationId xmlns:a16="http://schemas.microsoft.com/office/drawing/2014/main" id="{D4BE2B34-9B9E-1A2C-600F-3296F611FDC3}"/>
              </a:ext>
            </a:extLst>
          </p:cNvPr>
          <p:cNvSpPr txBox="1">
            <a:spLocks/>
          </p:cNvSpPr>
          <p:nvPr/>
        </p:nvSpPr>
        <p:spPr bwMode="gray">
          <a:xfrm>
            <a:off x="502921" y="320042"/>
            <a:ext cx="11136000" cy="331559"/>
          </a:xfrm>
          <a:prstGeom prst="rect">
            <a:avLst/>
          </a:prstGeom>
        </p:spPr>
        <p:txBody>
          <a:bodyPr vert="horz" lIns="0" tIns="0" rIns="0" bIns="0" rtlCol="0" anchor="t" anchorCtr="0">
            <a:noAutofit/>
          </a:bodyPr>
          <a:lstStyle>
            <a:lvl1pPr algn="l" defTabSz="6858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de-DE">
                <a:latin typeface="Aptos" panose="020B0004020202020204" pitchFamily="34" charset="0"/>
              </a:rPr>
              <a:t>Profile</a:t>
            </a:r>
            <a:endParaRPr lang="de-DE" dirty="0">
              <a:latin typeface="Aptos" panose="020B0004020202020204" pitchFamily="34" charset="0"/>
            </a:endParaRPr>
          </a:p>
        </p:txBody>
      </p:sp>
      <p:sp>
        <p:nvSpPr>
          <p:cNvPr id="9" name="Text Placeholder 7">
            <a:extLst>
              <a:ext uri="{FF2B5EF4-FFF2-40B4-BE49-F238E27FC236}">
                <a16:creationId xmlns:a16="http://schemas.microsoft.com/office/drawing/2014/main" id="{0B7B737A-1561-A838-8E2B-D720272179FA}"/>
              </a:ext>
            </a:extLst>
          </p:cNvPr>
          <p:cNvSpPr txBox="1">
            <a:spLocks/>
          </p:cNvSpPr>
          <p:nvPr/>
        </p:nvSpPr>
        <p:spPr>
          <a:xfrm>
            <a:off x="868713" y="3362719"/>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lvl="0">
              <a:spcBef>
                <a:spcPts val="600"/>
              </a:spcBef>
              <a:defRPr/>
            </a:pPr>
            <a:r>
              <a:rPr lang="en-US" sz="1200" dirty="0">
                <a:latin typeface="Aptos" panose="020B0004020202020204" pitchFamily="34" charset="0"/>
              </a:rPr>
              <a:t>Business Skills</a:t>
            </a:r>
            <a:endParaRPr lang="en-US" dirty="0">
              <a:latin typeface="Aptos" panose="020B000402020202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Rewards </a:t>
            </a:r>
            <a:r>
              <a:rPr lang="en-US" sz="1000" dirty="0" err="1">
                <a:latin typeface="Aptos" panose="020B0004020202020204" pitchFamily="34" charset="0"/>
                <a:cs typeface="Calibri" panose="020F0502020204030204" pitchFamily="34" charset="0"/>
              </a:rPr>
              <a:t>Optimierung</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err="1">
                <a:latin typeface="Aptos" panose="020B0004020202020204" pitchFamily="34" charset="0"/>
                <a:cs typeface="Calibri" panose="020F0502020204030204" pitchFamily="34" charset="0"/>
              </a:rPr>
              <a:t>Sichere</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Anwendungsentwicklung</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Blockchain </a:t>
            </a:r>
            <a:r>
              <a:rPr lang="en-US" sz="1000" dirty="0" err="1">
                <a:latin typeface="Aptos" panose="020B0004020202020204" pitchFamily="34" charset="0"/>
                <a:cs typeface="Calibri" panose="020F0502020204030204" pitchFamily="34" charset="0"/>
              </a:rPr>
              <a:t>Plattform</a:t>
            </a:r>
            <a:endParaRPr lang="en-US" sz="1000" dirty="0">
              <a:latin typeface="Aptos" panose="020B0004020202020204" pitchFamily="34" charset="0"/>
              <a:cs typeface="Calibri" panose="020F0502020204030204" pitchFamily="34" charset="0"/>
            </a:endParaRPr>
          </a:p>
          <a:p>
            <a:pPr marL="171450" lvl="2" indent="-171450">
              <a:spcBef>
                <a:spcPts val="0"/>
              </a:spcBef>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Investment Management</a:t>
            </a:r>
          </a:p>
          <a:p>
            <a:pPr lvl="0">
              <a:spcBef>
                <a:spcPts val="600"/>
              </a:spcBef>
              <a:defRPr/>
            </a:pPr>
            <a:r>
              <a:rPr lang="en-US" sz="1200" dirty="0">
                <a:latin typeface="Aptos" panose="020B0004020202020204" pitchFamily="34" charset="0"/>
              </a:rPr>
              <a:t>Technology Skills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Data Warehouse Integrations</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Temenos: CRM</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SAP S/4HANA Cloud – Finance</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Agile 101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Microsoft C#</a:t>
            </a:r>
          </a:p>
          <a:p>
            <a:pPr lvl="0">
              <a:spcBef>
                <a:spcPts val="600"/>
              </a:spcBef>
              <a:defRPr/>
            </a:pPr>
            <a:r>
              <a:rPr lang="en-US" sz="1200" dirty="0" err="1">
                <a:latin typeface="Aptos" panose="020B0004020202020204" pitchFamily="34" charset="0"/>
              </a:rPr>
              <a:t>Sprachen</a:t>
            </a:r>
            <a:endParaRPr lang="en-US" sz="1200" dirty="0">
              <a:latin typeface="Aptos" panose="020B0004020202020204" pitchFamily="34" charset="0"/>
            </a:endParaRP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Deutsch C2</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Englisch C1</a:t>
            </a:r>
          </a:p>
          <a:p>
            <a:pPr marL="171450" lvl="2" indent="-171450">
              <a:spcAft>
                <a:spcPts val="0"/>
              </a:spcAft>
              <a:buFont typeface="Arial" panose="020B0604020202020204" pitchFamily="34" charset="0"/>
              <a:buChar char="•"/>
              <a:defRPr/>
            </a:pPr>
            <a:r>
              <a:rPr lang="en-US" sz="1000" dirty="0" err="1">
                <a:latin typeface="Aptos" panose="020B0004020202020204" pitchFamily="34" charset="0"/>
                <a:cs typeface="Calibri" panose="020F0502020204030204" pitchFamily="34" charset="0"/>
              </a:rPr>
              <a:t>Französisch</a:t>
            </a:r>
            <a:r>
              <a:rPr lang="en-US" sz="1000" dirty="0">
                <a:latin typeface="Aptos" panose="020B0004020202020204" pitchFamily="34" charset="0"/>
                <a:cs typeface="Calibri" panose="020F0502020204030204" pitchFamily="34" charset="0"/>
              </a:rPr>
              <a:t> B1</a:t>
            </a:r>
          </a:p>
          <a:p>
            <a:pPr marL="171450" lvl="2" indent="-171450">
              <a:spcAft>
                <a:spcPts val="0"/>
              </a:spcAft>
              <a:buFont typeface="Arial" panose="020B0604020202020204" pitchFamily="34" charset="0"/>
              <a:buChar char="•"/>
              <a:defRPr/>
            </a:pPr>
            <a:r>
              <a:rPr lang="en-US" sz="1000" dirty="0">
                <a:latin typeface="Aptos" panose="020B0004020202020204" pitchFamily="34" charset="0"/>
                <a:cs typeface="Calibri" panose="020F0502020204030204" pitchFamily="34" charset="0"/>
              </a:rPr>
              <a:t>Polnisch A2</a:t>
            </a:r>
          </a:p>
        </p:txBody>
      </p:sp>
      <p:sp>
        <p:nvSpPr>
          <p:cNvPr id="10" name="Text Placeholder 8">
            <a:extLst>
              <a:ext uri="{FF2B5EF4-FFF2-40B4-BE49-F238E27FC236}">
                <a16:creationId xmlns:a16="http://schemas.microsoft.com/office/drawing/2014/main" id="{6B12F805-ECF6-3C60-7A77-EA29A92930E1}"/>
              </a:ext>
            </a:extLst>
          </p:cNvPr>
          <p:cNvSpPr txBox="1">
            <a:spLocks/>
          </p:cNvSpPr>
          <p:nvPr/>
        </p:nvSpPr>
        <p:spPr>
          <a:xfrm>
            <a:off x="3350521" y="3371333"/>
            <a:ext cx="2304000" cy="2926800"/>
          </a:xfrm>
          <a:prstGeom prst="rect">
            <a:avLst/>
          </a:prstGeom>
        </p:spPr>
        <p:txBody>
          <a:bodyPr/>
          <a:lst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Industrieerfahrung</a:t>
            </a:r>
            <a:endParaRPr kumimoji="0" lang="en-US" sz="12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Industrie-</a:t>
            </a: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Maschinen</a:t>
            </a: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 und </a:t>
            </a: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Komponenten</a:t>
            </a:r>
            <a:endPar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Automobilindustrie</a:t>
            </a:r>
            <a:endPar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Gesundheitssektor</a:t>
            </a:r>
            <a:endPar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Zertifikate</a:t>
            </a:r>
            <a:endParaRPr kumimoji="0" lang="en-US" sz="12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SAP Certified Associate Project Manager</a:t>
            </a: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Certified Management Accountant </a:t>
            </a: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Scrum Master</a:t>
            </a:r>
          </a:p>
          <a:p>
            <a:pPr marL="0" marR="0" lvl="0" indent="0" algn="l" defTabSz="685800" rtl="0" eaLnBrk="1" fontAlgn="auto" latinLnBrk="0" hangingPunct="1">
              <a:lnSpc>
                <a:spcPct val="100000"/>
              </a:lnSpc>
              <a:spcBef>
                <a:spcPts val="600"/>
              </a:spcBef>
              <a:spcAft>
                <a:spcPts val="600"/>
              </a:spcAft>
              <a:buClrTx/>
              <a:buSzPct val="100000"/>
              <a:buFontTx/>
              <a:buNone/>
              <a:tabLst/>
              <a:defRPr/>
            </a:pPr>
            <a:r>
              <a:rPr kumimoji="0" lang="en-US" sz="12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Studium – </a:t>
            </a:r>
            <a:r>
              <a:rPr kumimoji="0" lang="en-US" sz="12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Höchster</a:t>
            </a:r>
            <a:r>
              <a:rPr kumimoji="0" lang="en-US" sz="12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 </a:t>
            </a:r>
            <a:r>
              <a:rPr kumimoji="0" lang="en-US" sz="12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Abschluss</a:t>
            </a:r>
            <a:endParaRPr kumimoji="0" lang="en-US" sz="12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endParaRPr>
          </a:p>
          <a:p>
            <a:pPr marL="171450" marR="0" lvl="2" indent="-171450" algn="l" defTabSz="6858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Master-</a:t>
            </a: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Abschluss</a:t>
            </a: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 </a:t>
            </a:r>
            <a:b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Informatik, </a:t>
            </a:r>
            <a:b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Beispiel</a:t>
            </a: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 Universität, </a:t>
            </a:r>
            <a:b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br>
            <a:r>
              <a:rPr kumimoji="0" lang="en-US" sz="1000" b="0" i="0" u="none" strike="noStrike" kern="1200" cap="none" spc="0" normalizeH="0" baseline="0" noProof="0" dirty="0" err="1">
                <a:ln>
                  <a:noFill/>
                </a:ln>
                <a:effectLst/>
                <a:uLnTx/>
                <a:uFillTx/>
                <a:latin typeface="Aptos" panose="020B0004020202020204" pitchFamily="34" charset="0"/>
                <a:ea typeface="+mn-ea"/>
                <a:cs typeface="Calibri" panose="020F0502020204030204" pitchFamily="34" charset="0"/>
              </a:rPr>
              <a:t>Beispiel</a:t>
            </a:r>
            <a:r>
              <a:rPr kumimoji="0" lang="en-US" sz="1000" b="0" i="0" u="none" strike="noStrike" kern="1200" cap="none" spc="0" normalizeH="0" baseline="0" noProof="0" dirty="0">
                <a:ln>
                  <a:noFill/>
                </a:ln>
                <a:effectLst/>
                <a:uLnTx/>
                <a:uFillTx/>
                <a:latin typeface="Aptos" panose="020B0004020202020204" pitchFamily="34" charset="0"/>
                <a:ea typeface="+mn-ea"/>
                <a:cs typeface="Calibri" panose="020F0502020204030204" pitchFamily="34" charset="0"/>
              </a:rPr>
              <a:t> Stadt</a:t>
            </a:r>
          </a:p>
        </p:txBody>
      </p:sp>
      <p:grpSp>
        <p:nvGrpSpPr>
          <p:cNvPr id="11" name="Group 10">
            <a:extLst>
              <a:ext uri="{FF2B5EF4-FFF2-40B4-BE49-F238E27FC236}">
                <a16:creationId xmlns:a16="http://schemas.microsoft.com/office/drawing/2014/main" id="{E71428C6-016B-5EF7-B41B-B5164484D7BF}"/>
              </a:ext>
            </a:extLst>
          </p:cNvPr>
          <p:cNvGrpSpPr/>
          <p:nvPr/>
        </p:nvGrpSpPr>
        <p:grpSpPr>
          <a:xfrm>
            <a:off x="502921" y="3000022"/>
            <a:ext cx="5146113" cy="371888"/>
            <a:chOff x="535855" y="3075545"/>
            <a:chExt cx="5146113" cy="371888"/>
          </a:xfrm>
        </p:grpSpPr>
        <p:cxnSp>
          <p:nvCxnSpPr>
            <p:cNvPr id="12" name="Straight Connector 11">
              <a:extLst>
                <a:ext uri="{FF2B5EF4-FFF2-40B4-BE49-F238E27FC236}">
                  <a16:creationId xmlns:a16="http://schemas.microsoft.com/office/drawing/2014/main" id="{B4AC0988-6202-2134-8DF3-EBBBE4891857}"/>
                </a:ext>
              </a:extLst>
            </p:cNvPr>
            <p:cNvCxnSpPr/>
            <p:nvPr userDrawn="1"/>
          </p:nvCxnSpPr>
          <p:spPr>
            <a:xfrm>
              <a:off x="965968" y="3369135"/>
              <a:ext cx="4716000" cy="2548"/>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CD9C120-9F77-03D9-E4F2-C488CBFF874E}"/>
                </a:ext>
              </a:extLst>
            </p:cNvPr>
            <p:cNvSpPr txBox="1"/>
            <p:nvPr userDrawn="1"/>
          </p:nvSpPr>
          <p:spPr>
            <a:xfrm>
              <a:off x="962826" y="3180622"/>
              <a:ext cx="4687001"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a:latin typeface="Aptos" panose="020B0004020202020204" pitchFamily="34" charset="0"/>
                  <a:cs typeface="Calibri" panose="020F0502020204030204" pitchFamily="34" charset="0"/>
                </a:rPr>
                <a:t>Key Skills</a:t>
              </a:r>
              <a:endParaRPr lang="en-US" sz="1200" b="1" noProof="0" dirty="0">
                <a:latin typeface="Aptos" panose="020B000402020202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976E66A5-465C-F504-B9E9-4418F42448B7}"/>
                </a:ext>
              </a:extLst>
            </p:cNvPr>
            <p:cNvPicPr>
              <a:picLocks noChangeAspect="1"/>
            </p:cNvPicPr>
            <p:nvPr/>
          </p:nvPicPr>
          <p:blipFill>
            <a:blip r:embed="rId2"/>
            <a:stretch>
              <a:fillRect/>
            </a:stretch>
          </p:blipFill>
          <p:spPr>
            <a:xfrm>
              <a:off x="535855" y="3075545"/>
              <a:ext cx="365792" cy="371888"/>
            </a:xfrm>
            <a:prstGeom prst="rect">
              <a:avLst/>
            </a:prstGeom>
          </p:spPr>
        </p:pic>
      </p:grpSp>
      <p:grpSp>
        <p:nvGrpSpPr>
          <p:cNvPr id="15" name="Group 14">
            <a:extLst>
              <a:ext uri="{FF2B5EF4-FFF2-40B4-BE49-F238E27FC236}">
                <a16:creationId xmlns:a16="http://schemas.microsoft.com/office/drawing/2014/main" id="{A22000CD-0FC9-5AC4-9C71-674A48701918}"/>
              </a:ext>
            </a:extLst>
          </p:cNvPr>
          <p:cNvGrpSpPr/>
          <p:nvPr/>
        </p:nvGrpSpPr>
        <p:grpSpPr>
          <a:xfrm>
            <a:off x="5915606" y="2993698"/>
            <a:ext cx="5786825" cy="369021"/>
            <a:chOff x="5913085" y="3078365"/>
            <a:chExt cx="5786825" cy="369021"/>
          </a:xfrm>
        </p:grpSpPr>
        <p:cxnSp>
          <p:nvCxnSpPr>
            <p:cNvPr id="16" name="Straight Connector 15">
              <a:extLst>
                <a:ext uri="{FF2B5EF4-FFF2-40B4-BE49-F238E27FC236}">
                  <a16:creationId xmlns:a16="http://schemas.microsoft.com/office/drawing/2014/main" id="{FA38F82B-626F-158A-B92B-FA3CAC3EDB06}"/>
                </a:ext>
              </a:extLst>
            </p:cNvPr>
            <p:cNvCxnSpPr/>
            <p:nvPr userDrawn="1"/>
          </p:nvCxnSpPr>
          <p:spPr>
            <a:xfrm>
              <a:off x="6335910" y="3371211"/>
              <a:ext cx="5364000" cy="472"/>
            </a:xfrm>
            <a:prstGeom prst="line">
              <a:avLst/>
            </a:prstGeom>
            <a:ln/>
            <a:effectLst/>
          </p:spPr>
          <p:style>
            <a:lnRef idx="2">
              <a:schemeClr val="accent1"/>
            </a:lnRef>
            <a:fillRef idx="0">
              <a:schemeClr val="accent1"/>
            </a:fillRef>
            <a:effectRef idx="1">
              <a:schemeClr val="accent1"/>
            </a:effectRef>
            <a:fontRef idx="minor">
              <a:schemeClr val="tx1"/>
            </a:fontRef>
          </p:style>
        </p:cxnSp>
        <p:grpSp>
          <p:nvGrpSpPr>
            <p:cNvPr id="17" name="Group 16">
              <a:extLst>
                <a:ext uri="{FF2B5EF4-FFF2-40B4-BE49-F238E27FC236}">
                  <a16:creationId xmlns:a16="http://schemas.microsoft.com/office/drawing/2014/main" id="{CC32FD65-C8A9-59D5-91C2-0404CB5E3148}"/>
                </a:ext>
              </a:extLst>
            </p:cNvPr>
            <p:cNvGrpSpPr/>
            <p:nvPr/>
          </p:nvGrpSpPr>
          <p:grpSpPr>
            <a:xfrm>
              <a:off x="5913085" y="3078365"/>
              <a:ext cx="5769187" cy="369021"/>
              <a:chOff x="5913085" y="3078365"/>
              <a:chExt cx="5769187" cy="369021"/>
            </a:xfrm>
          </p:grpSpPr>
          <p:grpSp>
            <p:nvGrpSpPr>
              <p:cNvPr id="18" name="Group 675">
                <a:extLst>
                  <a:ext uri="{FF2B5EF4-FFF2-40B4-BE49-F238E27FC236}">
                    <a16:creationId xmlns:a16="http://schemas.microsoft.com/office/drawing/2014/main" id="{E6CCFF83-227B-952B-1E73-93B4D81E9253}"/>
                  </a:ext>
                </a:extLst>
              </p:cNvPr>
              <p:cNvGrpSpPr>
                <a:grpSpLocks noChangeAspect="1"/>
              </p:cNvGrpSpPr>
              <p:nvPr userDrawn="1"/>
            </p:nvGrpSpPr>
            <p:grpSpPr bwMode="gray">
              <a:xfrm>
                <a:off x="5913085" y="3078365"/>
                <a:ext cx="369021" cy="369021"/>
                <a:chOff x="6583" y="2681"/>
                <a:chExt cx="340" cy="340"/>
              </a:xfrm>
              <a:solidFill>
                <a:schemeClr val="accent1"/>
              </a:solidFill>
            </p:grpSpPr>
            <p:sp>
              <p:nvSpPr>
                <p:cNvPr id="20" name="Freeform 676">
                  <a:extLst>
                    <a:ext uri="{FF2B5EF4-FFF2-40B4-BE49-F238E27FC236}">
                      <a16:creationId xmlns:a16="http://schemas.microsoft.com/office/drawing/2014/main" id="{27DE1328-F246-C1EF-4AC5-1105FB6B29AF}"/>
                    </a:ext>
                  </a:extLst>
                </p:cNvPr>
                <p:cNvSpPr>
                  <a:spLocks noEditPoints="1"/>
                </p:cNvSpPr>
                <p:nvPr/>
              </p:nvSpPr>
              <p:spPr bwMode="gray">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1" name="Freeform 677">
                  <a:extLst>
                    <a:ext uri="{FF2B5EF4-FFF2-40B4-BE49-F238E27FC236}">
                      <a16:creationId xmlns:a16="http://schemas.microsoft.com/office/drawing/2014/main" id="{4F0CB39E-93F9-85D0-7C52-482B6D0754C2}"/>
                    </a:ext>
                  </a:extLst>
                </p:cNvPr>
                <p:cNvSpPr>
                  <a:spLocks noEditPoints="1"/>
                </p:cNvSpPr>
                <p:nvPr/>
              </p:nvSpPr>
              <p:spPr bwMode="gray">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2" name="Freeform 678">
                  <a:extLst>
                    <a:ext uri="{FF2B5EF4-FFF2-40B4-BE49-F238E27FC236}">
                      <a16:creationId xmlns:a16="http://schemas.microsoft.com/office/drawing/2014/main" id="{420CD201-D9F6-3DF2-874C-1B842794BBF8}"/>
                    </a:ext>
                  </a:extLst>
                </p:cNvPr>
                <p:cNvSpPr>
                  <a:spLocks noEditPoints="1"/>
                </p:cNvSpPr>
                <p:nvPr/>
              </p:nvSpPr>
              <p:spPr bwMode="gray">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sp>
            <p:nvSpPr>
              <p:cNvPr id="19" name="TextBox 18">
                <a:extLst>
                  <a:ext uri="{FF2B5EF4-FFF2-40B4-BE49-F238E27FC236}">
                    <a16:creationId xmlns:a16="http://schemas.microsoft.com/office/drawing/2014/main" id="{67C9D72E-28C1-78EF-902B-2CA623470D56}"/>
                  </a:ext>
                </a:extLst>
              </p:cNvPr>
              <p:cNvSpPr txBox="1"/>
              <p:nvPr userDrawn="1"/>
            </p:nvSpPr>
            <p:spPr>
              <a:xfrm>
                <a:off x="6353548" y="3178140"/>
                <a:ext cx="5328724"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err="1">
                    <a:latin typeface="Aptos" panose="020B0004020202020204" pitchFamily="34" charset="0"/>
                    <a:cs typeface="Calibri" panose="020F0502020204030204" pitchFamily="34" charset="0"/>
                  </a:rPr>
                  <a:t>Relevante</a:t>
                </a:r>
                <a:r>
                  <a:rPr lang="en-US" sz="1200" b="1" dirty="0">
                    <a:latin typeface="Aptos" panose="020B0004020202020204" pitchFamily="34" charset="0"/>
                    <a:cs typeface="Calibri" panose="020F0502020204030204" pitchFamily="34" charset="0"/>
                  </a:rPr>
                  <a:t> </a:t>
                </a:r>
                <a:r>
                  <a:rPr lang="en-US" sz="1200" b="1" dirty="0" err="1">
                    <a:latin typeface="Aptos" panose="020B0004020202020204" pitchFamily="34" charset="0"/>
                    <a:cs typeface="Calibri" panose="020F0502020204030204" pitchFamily="34" charset="0"/>
                  </a:rPr>
                  <a:t>Projekterfahrung</a:t>
                </a:r>
                <a:endParaRPr lang="en-US" sz="1200" b="1" dirty="0">
                  <a:latin typeface="Aptos" panose="020B0004020202020204" pitchFamily="34" charset="0"/>
                  <a:cs typeface="Calibri" panose="020F0502020204030204" pitchFamily="34" charset="0"/>
                </a:endParaRPr>
              </a:p>
            </p:txBody>
          </p:sp>
        </p:grpSp>
      </p:grpSp>
      <p:grpSp>
        <p:nvGrpSpPr>
          <p:cNvPr id="23" name="Group 22">
            <a:extLst>
              <a:ext uri="{FF2B5EF4-FFF2-40B4-BE49-F238E27FC236}">
                <a16:creationId xmlns:a16="http://schemas.microsoft.com/office/drawing/2014/main" id="{AAF48C79-77F8-1A12-8ACC-5549963C721F}"/>
              </a:ext>
            </a:extLst>
          </p:cNvPr>
          <p:cNvGrpSpPr/>
          <p:nvPr/>
        </p:nvGrpSpPr>
        <p:grpSpPr>
          <a:xfrm>
            <a:off x="5915582" y="5621902"/>
            <a:ext cx="5890679" cy="367041"/>
            <a:chOff x="5913061" y="5560265"/>
            <a:chExt cx="5890679" cy="367041"/>
          </a:xfrm>
        </p:grpSpPr>
        <p:grpSp>
          <p:nvGrpSpPr>
            <p:cNvPr id="24" name="Group 192">
              <a:extLst>
                <a:ext uri="{FF2B5EF4-FFF2-40B4-BE49-F238E27FC236}">
                  <a16:creationId xmlns:a16="http://schemas.microsoft.com/office/drawing/2014/main" id="{C84B33B5-71B5-E493-955F-C2C5F0F7EC59}"/>
                </a:ext>
              </a:extLst>
            </p:cNvPr>
            <p:cNvGrpSpPr>
              <a:grpSpLocks noChangeAspect="1"/>
            </p:cNvGrpSpPr>
            <p:nvPr userDrawn="1"/>
          </p:nvGrpSpPr>
          <p:grpSpPr bwMode="gray">
            <a:xfrm>
              <a:off x="5913061" y="5560265"/>
              <a:ext cx="367041" cy="367041"/>
              <a:chOff x="378" y="713"/>
              <a:chExt cx="340" cy="340"/>
            </a:xfrm>
            <a:solidFill>
              <a:schemeClr val="accent1"/>
            </a:solidFill>
          </p:grpSpPr>
          <p:sp>
            <p:nvSpPr>
              <p:cNvPr id="27" name="Freeform 193">
                <a:extLst>
                  <a:ext uri="{FF2B5EF4-FFF2-40B4-BE49-F238E27FC236}">
                    <a16:creationId xmlns:a16="http://schemas.microsoft.com/office/drawing/2014/main" id="{1E5AABED-FD34-AB23-2F95-E1BB34FFF499}"/>
                  </a:ext>
                </a:extLst>
              </p:cNvPr>
              <p:cNvSpPr>
                <a:spLocks noEditPoints="1"/>
              </p:cNvSpPr>
              <p:nvPr/>
            </p:nvSpPr>
            <p:spPr bwMode="gray">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28" name="Freeform 194">
                <a:extLst>
                  <a:ext uri="{FF2B5EF4-FFF2-40B4-BE49-F238E27FC236}">
                    <a16:creationId xmlns:a16="http://schemas.microsoft.com/office/drawing/2014/main" id="{74D25368-751D-73B8-378A-86D491D35C8C}"/>
                  </a:ext>
                </a:extLst>
              </p:cNvPr>
              <p:cNvSpPr>
                <a:spLocks noEditPoints="1"/>
              </p:cNvSpPr>
              <p:nvPr/>
            </p:nvSpPr>
            <p:spPr bwMode="gray">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cxnSp>
          <p:nvCxnSpPr>
            <p:cNvPr id="25" name="Straight Connector 24">
              <a:extLst>
                <a:ext uri="{FF2B5EF4-FFF2-40B4-BE49-F238E27FC236}">
                  <a16:creationId xmlns:a16="http://schemas.microsoft.com/office/drawing/2014/main" id="{1CFE4A57-8768-FCDE-32A3-153D5C42DC81}"/>
                </a:ext>
              </a:extLst>
            </p:cNvPr>
            <p:cNvCxnSpPr/>
            <p:nvPr userDrawn="1"/>
          </p:nvCxnSpPr>
          <p:spPr>
            <a:xfrm>
              <a:off x="6337448" y="5852230"/>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F615412-89EF-986F-BB0C-20A2C1350447}"/>
                </a:ext>
              </a:extLst>
            </p:cNvPr>
            <p:cNvSpPr txBox="1"/>
            <p:nvPr userDrawn="1"/>
          </p:nvSpPr>
          <p:spPr>
            <a:xfrm>
              <a:off x="6337813" y="5651452"/>
              <a:ext cx="5465927"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dirty="0" err="1">
                  <a:latin typeface="Aptos" panose="020B0004020202020204" pitchFamily="34" charset="0"/>
                  <a:cs typeface="Calibri" panose="020F0502020204030204" pitchFamily="34" charset="0"/>
                </a:rPr>
                <a:t>Ausgewählte</a:t>
              </a:r>
              <a:r>
                <a:rPr lang="en-US" sz="1200" b="1" dirty="0">
                  <a:latin typeface="Aptos" panose="020B0004020202020204" pitchFamily="34" charset="0"/>
                  <a:cs typeface="Calibri" panose="020F0502020204030204" pitchFamily="34" charset="0"/>
                </a:rPr>
                <a:t> Kunden</a:t>
              </a:r>
            </a:p>
          </p:txBody>
        </p:sp>
      </p:grpSp>
      <p:grpSp>
        <p:nvGrpSpPr>
          <p:cNvPr id="29" name="Group 28">
            <a:extLst>
              <a:ext uri="{FF2B5EF4-FFF2-40B4-BE49-F238E27FC236}">
                <a16:creationId xmlns:a16="http://schemas.microsoft.com/office/drawing/2014/main" id="{E10C6B45-60E7-26DE-E664-493931FCFEED}"/>
              </a:ext>
            </a:extLst>
          </p:cNvPr>
          <p:cNvGrpSpPr/>
          <p:nvPr/>
        </p:nvGrpSpPr>
        <p:grpSpPr>
          <a:xfrm>
            <a:off x="5913572" y="1499333"/>
            <a:ext cx="5907432" cy="369021"/>
            <a:chOff x="5911051" y="1613249"/>
            <a:chExt cx="5907432" cy="369021"/>
          </a:xfrm>
        </p:grpSpPr>
        <p:cxnSp>
          <p:nvCxnSpPr>
            <p:cNvPr id="30" name="Straight Connector 29">
              <a:extLst>
                <a:ext uri="{FF2B5EF4-FFF2-40B4-BE49-F238E27FC236}">
                  <a16:creationId xmlns:a16="http://schemas.microsoft.com/office/drawing/2014/main" id="{0D59AAE5-8180-8752-8C7C-008FF4FDC83A}"/>
                </a:ext>
              </a:extLst>
            </p:cNvPr>
            <p:cNvCxnSpPr/>
            <p:nvPr userDrawn="1"/>
          </p:nvCxnSpPr>
          <p:spPr>
            <a:xfrm>
              <a:off x="6335918" y="1906203"/>
              <a:ext cx="5364000" cy="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40CF95E-A236-825C-4410-08785C73F039}"/>
                </a:ext>
              </a:extLst>
            </p:cNvPr>
            <p:cNvSpPr txBox="1"/>
            <p:nvPr userDrawn="1"/>
          </p:nvSpPr>
          <p:spPr>
            <a:xfrm>
              <a:off x="6351705" y="1705426"/>
              <a:ext cx="5466778" cy="184666"/>
            </a:xfrm>
            <a:prstGeom prst="rect">
              <a:avLst/>
            </a:prstGeom>
            <a:noFill/>
          </p:spPr>
          <p:txBody>
            <a:bodyPr wrap="square" lIns="0" tIns="0" rIns="0" bIns="0" rtlCol="0">
              <a:spAutoFit/>
            </a:bodyPr>
            <a:lstStyle/>
            <a:p>
              <a:pPr marL="0" indent="0">
                <a:spcBef>
                  <a:spcPts val="600"/>
                </a:spcBef>
                <a:buSzPct val="100000"/>
                <a:buFont typeface="Arial"/>
                <a:buNone/>
              </a:pPr>
              <a:r>
                <a:rPr lang="en-US" sz="1200" b="1" noProof="0" dirty="0" err="1">
                  <a:latin typeface="Aptos" panose="020B0004020202020204" pitchFamily="34" charset="0"/>
                  <a:cs typeface="Calibri" panose="020F0502020204030204" pitchFamily="34" charset="0"/>
                </a:rPr>
                <a:t>Zusammenfassung</a:t>
              </a:r>
              <a:r>
                <a:rPr lang="en-US" sz="1200" b="1" noProof="0" dirty="0">
                  <a:latin typeface="Aptos" panose="020B0004020202020204" pitchFamily="34" charset="0"/>
                  <a:cs typeface="Calibri" panose="020F0502020204030204" pitchFamily="34" charset="0"/>
                </a:rPr>
                <a:t> der </a:t>
              </a:r>
              <a:r>
                <a:rPr lang="en-US" sz="1200" b="1" noProof="0" dirty="0" err="1">
                  <a:latin typeface="Aptos" panose="020B0004020202020204" pitchFamily="34" charset="0"/>
                  <a:cs typeface="Calibri" panose="020F0502020204030204" pitchFamily="34" charset="0"/>
                </a:rPr>
                <a:t>Berufserfahrung</a:t>
              </a:r>
              <a:endParaRPr lang="en-US" sz="1200" b="1" noProof="0" dirty="0">
                <a:latin typeface="Aptos" panose="020B0004020202020204" pitchFamily="34" charset="0"/>
                <a:cs typeface="Calibri" panose="020F0502020204030204" pitchFamily="34" charset="0"/>
              </a:endParaRPr>
            </a:p>
          </p:txBody>
        </p:sp>
        <p:grpSp>
          <p:nvGrpSpPr>
            <p:cNvPr id="32" name="Group 555">
              <a:extLst>
                <a:ext uri="{FF2B5EF4-FFF2-40B4-BE49-F238E27FC236}">
                  <a16:creationId xmlns:a16="http://schemas.microsoft.com/office/drawing/2014/main" id="{D1421180-D86C-AE32-9F2C-2C450514798F}"/>
                </a:ext>
              </a:extLst>
            </p:cNvPr>
            <p:cNvGrpSpPr>
              <a:grpSpLocks noChangeAspect="1"/>
            </p:cNvGrpSpPr>
            <p:nvPr userDrawn="1"/>
          </p:nvGrpSpPr>
          <p:grpSpPr bwMode="gray">
            <a:xfrm>
              <a:off x="5911051" y="1613249"/>
              <a:ext cx="370106" cy="369021"/>
              <a:chOff x="1130" y="1948"/>
              <a:chExt cx="341" cy="340"/>
            </a:xfrm>
            <a:solidFill>
              <a:schemeClr val="accent1"/>
            </a:solidFill>
          </p:grpSpPr>
          <p:sp>
            <p:nvSpPr>
              <p:cNvPr id="33" name="Freeform 556">
                <a:extLst>
                  <a:ext uri="{FF2B5EF4-FFF2-40B4-BE49-F238E27FC236}">
                    <a16:creationId xmlns:a16="http://schemas.microsoft.com/office/drawing/2014/main" id="{50DA09D6-A00F-4956-DF2A-259C2E3B99B4}"/>
                  </a:ext>
                </a:extLst>
              </p:cNvPr>
              <p:cNvSpPr>
                <a:spLocks noEditPoints="1"/>
              </p:cNvSpPr>
              <p:nvPr/>
            </p:nvSpPr>
            <p:spPr bwMode="gray">
              <a:xfrm>
                <a:off x="1130" y="194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4" name="Freeform 557">
                <a:extLst>
                  <a:ext uri="{FF2B5EF4-FFF2-40B4-BE49-F238E27FC236}">
                    <a16:creationId xmlns:a16="http://schemas.microsoft.com/office/drawing/2014/main" id="{416719A3-3361-51B3-06E4-296017BE287B}"/>
                  </a:ext>
                </a:extLst>
              </p:cNvPr>
              <p:cNvSpPr>
                <a:spLocks/>
              </p:cNvSpPr>
              <p:nvPr/>
            </p:nvSpPr>
            <p:spPr bwMode="gray">
              <a:xfrm>
                <a:off x="1322" y="2068"/>
                <a:ext cx="85" cy="14"/>
              </a:xfrm>
              <a:custGeom>
                <a:avLst/>
                <a:gdLst>
                  <a:gd name="T0" fmla="*/ 10 w 128"/>
                  <a:gd name="T1" fmla="*/ 21 h 21"/>
                  <a:gd name="T2" fmla="*/ 117 w 128"/>
                  <a:gd name="T3" fmla="*/ 21 h 21"/>
                  <a:gd name="T4" fmla="*/ 128 w 128"/>
                  <a:gd name="T5" fmla="*/ 11 h 21"/>
                  <a:gd name="T6" fmla="*/ 117 w 128"/>
                  <a:gd name="T7" fmla="*/ 0 h 21"/>
                  <a:gd name="T8" fmla="*/ 10 w 128"/>
                  <a:gd name="T9" fmla="*/ 0 h 21"/>
                  <a:gd name="T10" fmla="*/ 0 w 128"/>
                  <a:gd name="T11" fmla="*/ 11 h 21"/>
                  <a:gd name="T12" fmla="*/ 10 w 128"/>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0" y="21"/>
                    </a:moveTo>
                    <a:cubicBezTo>
                      <a:pt x="117" y="21"/>
                      <a:pt x="117" y="21"/>
                      <a:pt x="117" y="21"/>
                    </a:cubicBezTo>
                    <a:cubicBezTo>
                      <a:pt x="123" y="21"/>
                      <a:pt x="128" y="17"/>
                      <a:pt x="128" y="11"/>
                    </a:cubicBezTo>
                    <a:cubicBezTo>
                      <a:pt x="128" y="5"/>
                      <a:pt x="123" y="0"/>
                      <a:pt x="117" y="0"/>
                    </a:cubicBezTo>
                    <a:cubicBezTo>
                      <a:pt x="10" y="0"/>
                      <a:pt x="10" y="0"/>
                      <a:pt x="10" y="0"/>
                    </a:cubicBezTo>
                    <a:cubicBezTo>
                      <a:pt x="4" y="0"/>
                      <a:pt x="0" y="5"/>
                      <a:pt x="0" y="11"/>
                    </a:cubicBezTo>
                    <a:cubicBezTo>
                      <a:pt x="0" y="17"/>
                      <a:pt x="4" y="21"/>
                      <a:pt x="1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5" name="Freeform 558">
                <a:extLst>
                  <a:ext uri="{FF2B5EF4-FFF2-40B4-BE49-F238E27FC236}">
                    <a16:creationId xmlns:a16="http://schemas.microsoft.com/office/drawing/2014/main" id="{8E3D5ED5-53D8-0CB1-717C-1D022CF63053}"/>
                  </a:ext>
                </a:extLst>
              </p:cNvPr>
              <p:cNvSpPr>
                <a:spLocks/>
              </p:cNvSpPr>
              <p:nvPr/>
            </p:nvSpPr>
            <p:spPr bwMode="gray">
              <a:xfrm>
                <a:off x="1322" y="2097"/>
                <a:ext cx="85" cy="14"/>
              </a:xfrm>
              <a:custGeom>
                <a:avLst/>
                <a:gdLst>
                  <a:gd name="T0" fmla="*/ 117 w 128"/>
                  <a:gd name="T1" fmla="*/ 0 h 21"/>
                  <a:gd name="T2" fmla="*/ 10 w 128"/>
                  <a:gd name="T3" fmla="*/ 0 h 21"/>
                  <a:gd name="T4" fmla="*/ 0 w 128"/>
                  <a:gd name="T5" fmla="*/ 10 h 21"/>
                  <a:gd name="T6" fmla="*/ 10 w 128"/>
                  <a:gd name="T7" fmla="*/ 21 h 21"/>
                  <a:gd name="T8" fmla="*/ 117 w 128"/>
                  <a:gd name="T9" fmla="*/ 21 h 21"/>
                  <a:gd name="T10" fmla="*/ 128 w 128"/>
                  <a:gd name="T11" fmla="*/ 10 h 21"/>
                  <a:gd name="T12" fmla="*/ 117 w 128"/>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28" h="21">
                    <a:moveTo>
                      <a:pt x="117" y="0"/>
                    </a:moveTo>
                    <a:cubicBezTo>
                      <a:pt x="10" y="0"/>
                      <a:pt x="10" y="0"/>
                      <a:pt x="10" y="0"/>
                    </a:cubicBezTo>
                    <a:cubicBezTo>
                      <a:pt x="4" y="0"/>
                      <a:pt x="0" y="4"/>
                      <a:pt x="0" y="10"/>
                    </a:cubicBezTo>
                    <a:cubicBezTo>
                      <a:pt x="0" y="16"/>
                      <a:pt x="4" y="21"/>
                      <a:pt x="10" y="21"/>
                    </a:cubicBezTo>
                    <a:cubicBezTo>
                      <a:pt x="117" y="21"/>
                      <a:pt x="117" y="21"/>
                      <a:pt x="117" y="21"/>
                    </a:cubicBezTo>
                    <a:cubicBezTo>
                      <a:pt x="123" y="21"/>
                      <a:pt x="128" y="16"/>
                      <a:pt x="128" y="10"/>
                    </a:cubicBezTo>
                    <a:cubicBezTo>
                      <a:pt x="128" y="4"/>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6" name="Freeform 559">
                <a:extLst>
                  <a:ext uri="{FF2B5EF4-FFF2-40B4-BE49-F238E27FC236}">
                    <a16:creationId xmlns:a16="http://schemas.microsoft.com/office/drawing/2014/main" id="{E5813913-0E79-F8A1-DBEB-28CDB24FBC6D}"/>
                  </a:ext>
                </a:extLst>
              </p:cNvPr>
              <p:cNvSpPr>
                <a:spLocks/>
              </p:cNvSpPr>
              <p:nvPr/>
            </p:nvSpPr>
            <p:spPr bwMode="gray">
              <a:xfrm>
                <a:off x="1322" y="2125"/>
                <a:ext cx="85" cy="14"/>
              </a:xfrm>
              <a:custGeom>
                <a:avLst/>
                <a:gdLst>
                  <a:gd name="T0" fmla="*/ 117 w 128"/>
                  <a:gd name="T1" fmla="*/ 0 h 22"/>
                  <a:gd name="T2" fmla="*/ 10 w 128"/>
                  <a:gd name="T3" fmla="*/ 0 h 22"/>
                  <a:gd name="T4" fmla="*/ 0 w 128"/>
                  <a:gd name="T5" fmla="*/ 11 h 22"/>
                  <a:gd name="T6" fmla="*/ 10 w 128"/>
                  <a:gd name="T7" fmla="*/ 22 h 22"/>
                  <a:gd name="T8" fmla="*/ 117 w 128"/>
                  <a:gd name="T9" fmla="*/ 22 h 22"/>
                  <a:gd name="T10" fmla="*/ 128 w 128"/>
                  <a:gd name="T11" fmla="*/ 11 h 22"/>
                  <a:gd name="T12" fmla="*/ 117 w 128"/>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28" h="22">
                    <a:moveTo>
                      <a:pt x="117" y="0"/>
                    </a:moveTo>
                    <a:cubicBezTo>
                      <a:pt x="10" y="0"/>
                      <a:pt x="10" y="0"/>
                      <a:pt x="10" y="0"/>
                    </a:cubicBezTo>
                    <a:cubicBezTo>
                      <a:pt x="4" y="0"/>
                      <a:pt x="0" y="5"/>
                      <a:pt x="0" y="11"/>
                    </a:cubicBezTo>
                    <a:cubicBezTo>
                      <a:pt x="0" y="17"/>
                      <a:pt x="4" y="22"/>
                      <a:pt x="10" y="22"/>
                    </a:cubicBezTo>
                    <a:cubicBezTo>
                      <a:pt x="117" y="22"/>
                      <a:pt x="117" y="22"/>
                      <a:pt x="117" y="22"/>
                    </a:cubicBezTo>
                    <a:cubicBezTo>
                      <a:pt x="123" y="22"/>
                      <a:pt x="128" y="17"/>
                      <a:pt x="128" y="11"/>
                    </a:cubicBezTo>
                    <a:cubicBezTo>
                      <a:pt x="128" y="5"/>
                      <a:pt x="123" y="0"/>
                      <a:pt x="1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sp>
            <p:nvSpPr>
              <p:cNvPr id="37" name="Freeform 560">
                <a:extLst>
                  <a:ext uri="{FF2B5EF4-FFF2-40B4-BE49-F238E27FC236}">
                    <a16:creationId xmlns:a16="http://schemas.microsoft.com/office/drawing/2014/main" id="{B3D8DB60-F5C3-4769-CF62-31E54A0D0A3A}"/>
                  </a:ext>
                </a:extLst>
              </p:cNvPr>
              <p:cNvSpPr>
                <a:spLocks/>
              </p:cNvSpPr>
              <p:nvPr/>
            </p:nvSpPr>
            <p:spPr bwMode="gray">
              <a:xfrm>
                <a:off x="1193" y="2051"/>
                <a:ext cx="143" cy="139"/>
              </a:xfrm>
              <a:custGeom>
                <a:avLst/>
                <a:gdLst>
                  <a:gd name="T0" fmla="*/ 209 w 216"/>
                  <a:gd name="T1" fmla="*/ 187 h 209"/>
                  <a:gd name="T2" fmla="*/ 173 w 216"/>
                  <a:gd name="T3" fmla="*/ 179 h 209"/>
                  <a:gd name="T4" fmla="*/ 156 w 216"/>
                  <a:gd name="T5" fmla="*/ 176 h 209"/>
                  <a:gd name="T6" fmla="*/ 145 w 216"/>
                  <a:gd name="T7" fmla="*/ 147 h 209"/>
                  <a:gd name="T8" fmla="*/ 167 w 216"/>
                  <a:gd name="T9" fmla="*/ 96 h 209"/>
                  <a:gd name="T10" fmla="*/ 157 w 216"/>
                  <a:gd name="T11" fmla="*/ 22 h 209"/>
                  <a:gd name="T12" fmla="*/ 109 w 216"/>
                  <a:gd name="T13" fmla="*/ 0 h 209"/>
                  <a:gd name="T14" fmla="*/ 59 w 216"/>
                  <a:gd name="T15" fmla="*/ 22 h 209"/>
                  <a:gd name="T16" fmla="*/ 50 w 216"/>
                  <a:gd name="T17" fmla="*/ 96 h 209"/>
                  <a:gd name="T18" fmla="*/ 72 w 216"/>
                  <a:gd name="T19" fmla="*/ 147 h 209"/>
                  <a:gd name="T20" fmla="*/ 61 w 216"/>
                  <a:gd name="T21" fmla="*/ 176 h 209"/>
                  <a:gd name="T22" fmla="*/ 43 w 216"/>
                  <a:gd name="T23" fmla="*/ 179 h 209"/>
                  <a:gd name="T24" fmla="*/ 7 w 216"/>
                  <a:gd name="T25" fmla="*/ 187 h 209"/>
                  <a:gd name="T26" fmla="*/ 3 w 216"/>
                  <a:gd name="T27" fmla="*/ 202 h 209"/>
                  <a:gd name="T28" fmla="*/ 17 w 216"/>
                  <a:gd name="T29" fmla="*/ 206 h 209"/>
                  <a:gd name="T30" fmla="*/ 45 w 216"/>
                  <a:gd name="T31" fmla="*/ 201 h 209"/>
                  <a:gd name="T32" fmla="*/ 70 w 216"/>
                  <a:gd name="T33" fmla="*/ 196 h 209"/>
                  <a:gd name="T34" fmla="*/ 91 w 216"/>
                  <a:gd name="T35" fmla="*/ 163 h 209"/>
                  <a:gd name="T36" fmla="*/ 90 w 216"/>
                  <a:gd name="T37" fmla="*/ 135 h 209"/>
                  <a:gd name="T38" fmla="*/ 71 w 216"/>
                  <a:gd name="T39" fmla="*/ 91 h 209"/>
                  <a:gd name="T40" fmla="*/ 76 w 216"/>
                  <a:gd name="T41" fmla="*/ 36 h 209"/>
                  <a:gd name="T42" fmla="*/ 109 w 216"/>
                  <a:gd name="T43" fmla="*/ 22 h 209"/>
                  <a:gd name="T44" fmla="*/ 141 w 216"/>
                  <a:gd name="T45" fmla="*/ 36 h 209"/>
                  <a:gd name="T46" fmla="*/ 146 w 216"/>
                  <a:gd name="T47" fmla="*/ 91 h 209"/>
                  <a:gd name="T48" fmla="*/ 127 w 216"/>
                  <a:gd name="T49" fmla="*/ 135 h 209"/>
                  <a:gd name="T50" fmla="*/ 125 w 216"/>
                  <a:gd name="T51" fmla="*/ 163 h 209"/>
                  <a:gd name="T52" fmla="*/ 146 w 216"/>
                  <a:gd name="T53" fmla="*/ 196 h 209"/>
                  <a:gd name="T54" fmla="*/ 171 w 216"/>
                  <a:gd name="T55" fmla="*/ 201 h 209"/>
                  <a:gd name="T56" fmla="*/ 199 w 216"/>
                  <a:gd name="T57" fmla="*/ 206 h 209"/>
                  <a:gd name="T58" fmla="*/ 204 w 216"/>
                  <a:gd name="T59" fmla="*/ 207 h 209"/>
                  <a:gd name="T60" fmla="*/ 214 w 216"/>
                  <a:gd name="T61" fmla="*/ 202 h 209"/>
                  <a:gd name="T62" fmla="*/ 209 w 216"/>
                  <a:gd name="T63" fmla="*/ 18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209">
                    <a:moveTo>
                      <a:pt x="209" y="187"/>
                    </a:moveTo>
                    <a:cubicBezTo>
                      <a:pt x="199" y="182"/>
                      <a:pt x="185" y="180"/>
                      <a:pt x="173" y="179"/>
                    </a:cubicBezTo>
                    <a:cubicBezTo>
                      <a:pt x="166" y="179"/>
                      <a:pt x="158" y="178"/>
                      <a:pt x="156" y="176"/>
                    </a:cubicBezTo>
                    <a:cubicBezTo>
                      <a:pt x="149" y="173"/>
                      <a:pt x="143" y="153"/>
                      <a:pt x="145" y="147"/>
                    </a:cubicBezTo>
                    <a:cubicBezTo>
                      <a:pt x="153" y="134"/>
                      <a:pt x="162" y="114"/>
                      <a:pt x="167" y="96"/>
                    </a:cubicBezTo>
                    <a:cubicBezTo>
                      <a:pt x="174" y="64"/>
                      <a:pt x="171" y="39"/>
                      <a:pt x="157" y="22"/>
                    </a:cubicBezTo>
                    <a:cubicBezTo>
                      <a:pt x="139" y="0"/>
                      <a:pt x="109" y="0"/>
                      <a:pt x="109" y="0"/>
                    </a:cubicBezTo>
                    <a:cubicBezTo>
                      <a:pt x="107" y="0"/>
                      <a:pt x="78" y="0"/>
                      <a:pt x="59" y="22"/>
                    </a:cubicBezTo>
                    <a:cubicBezTo>
                      <a:pt x="45" y="39"/>
                      <a:pt x="42" y="64"/>
                      <a:pt x="50" y="96"/>
                    </a:cubicBezTo>
                    <a:cubicBezTo>
                      <a:pt x="54" y="114"/>
                      <a:pt x="63" y="134"/>
                      <a:pt x="72" y="147"/>
                    </a:cubicBezTo>
                    <a:cubicBezTo>
                      <a:pt x="73" y="153"/>
                      <a:pt x="67" y="173"/>
                      <a:pt x="61" y="176"/>
                    </a:cubicBezTo>
                    <a:cubicBezTo>
                      <a:pt x="58" y="178"/>
                      <a:pt x="50" y="179"/>
                      <a:pt x="43" y="179"/>
                    </a:cubicBezTo>
                    <a:cubicBezTo>
                      <a:pt x="31" y="180"/>
                      <a:pt x="18" y="182"/>
                      <a:pt x="7" y="187"/>
                    </a:cubicBezTo>
                    <a:cubicBezTo>
                      <a:pt x="2" y="190"/>
                      <a:pt x="0" y="196"/>
                      <a:pt x="3" y="202"/>
                    </a:cubicBezTo>
                    <a:cubicBezTo>
                      <a:pt x="6" y="207"/>
                      <a:pt x="12" y="209"/>
                      <a:pt x="17" y="206"/>
                    </a:cubicBezTo>
                    <a:cubicBezTo>
                      <a:pt x="24" y="202"/>
                      <a:pt x="35" y="201"/>
                      <a:pt x="45" y="201"/>
                    </a:cubicBezTo>
                    <a:cubicBezTo>
                      <a:pt x="55" y="200"/>
                      <a:pt x="64" y="199"/>
                      <a:pt x="70" y="196"/>
                    </a:cubicBezTo>
                    <a:cubicBezTo>
                      <a:pt x="84" y="189"/>
                      <a:pt x="90" y="169"/>
                      <a:pt x="91" y="163"/>
                    </a:cubicBezTo>
                    <a:cubicBezTo>
                      <a:pt x="93" y="154"/>
                      <a:pt x="95" y="142"/>
                      <a:pt x="90" y="135"/>
                    </a:cubicBezTo>
                    <a:cubicBezTo>
                      <a:pt x="82" y="125"/>
                      <a:pt x="74" y="106"/>
                      <a:pt x="71" y="91"/>
                    </a:cubicBezTo>
                    <a:cubicBezTo>
                      <a:pt x="65" y="66"/>
                      <a:pt x="66" y="47"/>
                      <a:pt x="76" y="36"/>
                    </a:cubicBezTo>
                    <a:cubicBezTo>
                      <a:pt x="87" y="21"/>
                      <a:pt x="108" y="21"/>
                      <a:pt x="109" y="22"/>
                    </a:cubicBezTo>
                    <a:cubicBezTo>
                      <a:pt x="109" y="21"/>
                      <a:pt x="129" y="21"/>
                      <a:pt x="141" y="36"/>
                    </a:cubicBezTo>
                    <a:cubicBezTo>
                      <a:pt x="150" y="47"/>
                      <a:pt x="152" y="66"/>
                      <a:pt x="146" y="91"/>
                    </a:cubicBezTo>
                    <a:cubicBezTo>
                      <a:pt x="142" y="106"/>
                      <a:pt x="134" y="125"/>
                      <a:pt x="127" y="135"/>
                    </a:cubicBezTo>
                    <a:cubicBezTo>
                      <a:pt x="122" y="142"/>
                      <a:pt x="123" y="154"/>
                      <a:pt x="125" y="163"/>
                    </a:cubicBezTo>
                    <a:cubicBezTo>
                      <a:pt x="127" y="169"/>
                      <a:pt x="133" y="189"/>
                      <a:pt x="146" y="196"/>
                    </a:cubicBezTo>
                    <a:cubicBezTo>
                      <a:pt x="153" y="199"/>
                      <a:pt x="161" y="200"/>
                      <a:pt x="171" y="201"/>
                    </a:cubicBezTo>
                    <a:cubicBezTo>
                      <a:pt x="181" y="201"/>
                      <a:pt x="192" y="202"/>
                      <a:pt x="199" y="206"/>
                    </a:cubicBezTo>
                    <a:cubicBezTo>
                      <a:pt x="201" y="207"/>
                      <a:pt x="202" y="207"/>
                      <a:pt x="204" y="207"/>
                    </a:cubicBezTo>
                    <a:cubicBezTo>
                      <a:pt x="208" y="207"/>
                      <a:pt x="212" y="205"/>
                      <a:pt x="214" y="202"/>
                    </a:cubicBezTo>
                    <a:cubicBezTo>
                      <a:pt x="216" y="196"/>
                      <a:pt x="214" y="190"/>
                      <a:pt x="209"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ptos" panose="020B0004020202020204" pitchFamily="34" charset="0"/>
                </a:endParaRPr>
              </a:p>
            </p:txBody>
          </p:sp>
        </p:grpSp>
      </p:grpSp>
      <p:sp>
        <p:nvSpPr>
          <p:cNvPr id="38" name="TextBox 37">
            <a:extLst>
              <a:ext uri="{FF2B5EF4-FFF2-40B4-BE49-F238E27FC236}">
                <a16:creationId xmlns:a16="http://schemas.microsoft.com/office/drawing/2014/main" id="{5F4850FE-53E9-2E87-BC54-9E55841A6D27}"/>
              </a:ext>
            </a:extLst>
          </p:cNvPr>
          <p:cNvSpPr txBox="1"/>
          <p:nvPr/>
        </p:nvSpPr>
        <p:spPr>
          <a:xfrm>
            <a:off x="1902932" y="1585251"/>
            <a:ext cx="3678385"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dirty="0">
                <a:ln>
                  <a:noFill/>
                </a:ln>
                <a:effectLst/>
                <a:uLnTx/>
                <a:uFillTx/>
                <a:latin typeface="Aptos" panose="020B0004020202020204" pitchFamily="34" charset="0"/>
                <a:ea typeface="+mn-ea"/>
                <a:cs typeface="+mn-cs"/>
              </a:rPr>
              <a:t>First Name Last Name</a:t>
            </a:r>
            <a:br>
              <a:rPr kumimoji="0" lang="en-US" sz="1800" b="0" i="0" u="none" strike="noStrike" kern="1200" cap="none" spc="0" normalizeH="0" baseline="0" noProof="0" dirty="0">
                <a:ln>
                  <a:noFill/>
                </a:ln>
                <a:effectLst/>
                <a:uLnTx/>
                <a:uFillTx/>
                <a:latin typeface="Aptos" panose="020B0004020202020204" pitchFamily="34" charset="0"/>
                <a:ea typeface="+mn-ea"/>
                <a:cs typeface="+mn-cs"/>
              </a:rPr>
            </a:br>
            <a:r>
              <a:rPr kumimoji="0" lang="en-US" sz="1000" b="0" i="0" u="none" strike="noStrike" kern="1200" cap="none" spc="0" normalizeH="0" baseline="0" noProof="0" dirty="0">
                <a:ln>
                  <a:noFill/>
                </a:ln>
                <a:effectLst/>
                <a:uLnTx/>
                <a:uFillTx/>
                <a:latin typeface="Aptos" panose="020B0004020202020204" pitchFamily="34" charset="0"/>
                <a:ea typeface="+mn-ea"/>
                <a:cs typeface="+mn-cs"/>
              </a:rPr>
              <a:t>Level</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Offering Portfolio</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Talent Group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dirty="0">
                <a:ln>
                  <a:noFill/>
                </a:ln>
                <a:effectLst/>
                <a:uLnTx/>
                <a:uFillTx/>
                <a:latin typeface="Aptos" panose="020B0004020202020204" pitchFamily="34" charset="0"/>
                <a:ea typeface="+mn-ea"/>
                <a:cs typeface="+mn-cs"/>
              </a:rPr>
              <a:t>Deutschland, Office Location</a:t>
            </a:r>
          </a:p>
          <a:p>
            <a:pPr>
              <a:buSzPct val="100000"/>
            </a:pPr>
            <a:endParaRPr lang="de-DE" dirty="0">
              <a:latin typeface="Aptos" panose="020B0004020202020204" pitchFamily="34" charset="0"/>
            </a:endParaRPr>
          </a:p>
        </p:txBody>
      </p:sp>
      <p:sp>
        <p:nvSpPr>
          <p:cNvPr id="39" name="TextBox 38">
            <a:extLst>
              <a:ext uri="{FF2B5EF4-FFF2-40B4-BE49-F238E27FC236}">
                <a16:creationId xmlns:a16="http://schemas.microsoft.com/office/drawing/2014/main" id="{9A654BF1-AC60-A084-6940-1D9DB2369C4F}"/>
              </a:ext>
            </a:extLst>
          </p:cNvPr>
          <p:cNvSpPr txBox="1"/>
          <p:nvPr/>
        </p:nvSpPr>
        <p:spPr>
          <a:xfrm>
            <a:off x="6354226" y="1846937"/>
            <a:ext cx="5348205" cy="1077218"/>
          </a:xfrm>
          <a:prstGeom prst="rect">
            <a:avLst/>
          </a:prstGeom>
          <a:noFill/>
        </p:spPr>
        <p:txBody>
          <a:bodyPr wrap="square" lIns="0" tIns="0" rIns="0" bIns="0" rtlCol="0">
            <a:spAutoFit/>
          </a:bodyPr>
          <a:lstStyle/>
          <a:p>
            <a:r>
              <a:rPr lang="de-DE" sz="1000" dirty="0">
                <a:latin typeface="Aptos" panose="020B0004020202020204" pitchFamily="34" charset="0"/>
              </a:rPr>
              <a:t>Max verfügt über fünf Jahre Berufserfahrung, davon arbeitete er drei Jahre bei Deloitte. Text läuft hier, dies ist Dummy-Text, er ist nicht hier, um gelesen zu werden, er ist hier, um zu zeigen, wie dieses Dokument aussehen wird, wenn es mit echtem Text gefüllt wird. Text läuft hier, dies ist Dummy-Text, er ist nicht hier, um gelesen zu werden, er ist hier, um zu zeigen, wie dieses Dokument aussehen wird, wenn es mit echtem Text gefüllt wird. Text läuft hier, dies ist Dummy-Text, er ist nicht hier, um gelesen zu werden, er ist hier, um zu zeigen, wie dieses Dokument aussehen wird, wenn es mit echtem Text gefüllt wird. </a:t>
            </a:r>
          </a:p>
        </p:txBody>
      </p:sp>
      <p:sp>
        <p:nvSpPr>
          <p:cNvPr id="40" name="TextBox 39">
            <a:extLst>
              <a:ext uri="{FF2B5EF4-FFF2-40B4-BE49-F238E27FC236}">
                <a16:creationId xmlns:a16="http://schemas.microsoft.com/office/drawing/2014/main" id="{02214D20-06C0-D0D7-A438-D334F7F87989}"/>
              </a:ext>
            </a:extLst>
          </p:cNvPr>
          <p:cNvSpPr txBox="1"/>
          <p:nvPr/>
        </p:nvSpPr>
        <p:spPr>
          <a:xfrm>
            <a:off x="6354226" y="3347641"/>
            <a:ext cx="5348205" cy="2154436"/>
          </a:xfrm>
          <a:prstGeom prst="rect">
            <a:avLst/>
          </a:prstGeom>
          <a:noFill/>
        </p:spPr>
        <p:txBody>
          <a:bodyPr wrap="square" lIns="0" tIns="0" rIns="0" bIns="0" rtlCol="0">
            <a:spAutoFit/>
          </a:bodyPr>
          <a:lstStyle/>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Automobilindustrie</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Finanzsektor</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a:p>
            <a:pPr marL="176400" lvl="2" indent="-176400">
              <a:spcBef>
                <a:spcPts val="0"/>
              </a:spcBef>
              <a:buFont typeface="Arial" panose="020B0604020202020204" pitchFamily="34" charset="0"/>
              <a:buChar char="•"/>
            </a:pPr>
            <a:r>
              <a:rPr lang="en-US" sz="1000" dirty="0">
                <a:latin typeface="Aptos" panose="020B0004020202020204" pitchFamily="34" charset="0"/>
                <a:cs typeface="Calibri" panose="020F0502020204030204" pitchFamily="34" charset="0"/>
              </a:rPr>
              <a:t>Industrie: </a:t>
            </a:r>
            <a:r>
              <a:rPr lang="en-US" sz="1000" dirty="0" err="1">
                <a:latin typeface="Aptos" panose="020B0004020202020204" pitchFamily="34" charset="0"/>
                <a:cs typeface="Calibri" panose="020F0502020204030204" pitchFamily="34" charset="0"/>
              </a:rPr>
              <a:t>Naturwissenschaft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Text </a:t>
            </a:r>
            <a:r>
              <a:rPr lang="en-US" sz="1000" dirty="0" err="1">
                <a:latin typeface="Aptos" panose="020B0004020202020204" pitchFamily="34" charset="0"/>
                <a:cs typeface="Calibri" panose="020F0502020204030204" pitchFamily="34" charset="0"/>
              </a:rPr>
              <a:t>läuft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dies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Dummy-Text,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nicht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a:t>
            </a:r>
            <a:r>
              <a:rPr lang="en-US" sz="1000" dirty="0" err="1">
                <a:latin typeface="Aptos" panose="020B0004020202020204" pitchFamily="34" charset="0"/>
                <a:cs typeface="Calibri" panose="020F0502020204030204" pitchFamily="34" charset="0"/>
              </a:rPr>
              <a:t>gelesen</a:t>
            </a:r>
            <a:r>
              <a:rPr lang="en-US" sz="1000" dirty="0">
                <a:latin typeface="Aptos" panose="020B0004020202020204" pitchFamily="34" charset="0"/>
                <a:cs typeface="Calibri" panose="020F0502020204030204" pitchFamily="34" charset="0"/>
              </a:rPr>
              <a:t> zu </a:t>
            </a:r>
            <a:r>
              <a:rPr lang="en-US" sz="1000" dirty="0" err="1">
                <a:latin typeface="Aptos" panose="020B0004020202020204" pitchFamily="34" charset="0"/>
                <a:cs typeface="Calibri" panose="020F0502020204030204" pitchFamily="34" charset="0"/>
              </a:rPr>
              <a:t>werden</a:t>
            </a:r>
            <a:r>
              <a:rPr lang="en-US" sz="1000" dirty="0">
                <a:latin typeface="Aptos" panose="020B0004020202020204" pitchFamily="34" charset="0"/>
                <a:cs typeface="Calibri" panose="020F0502020204030204" pitchFamily="34" charset="0"/>
              </a:rPr>
              <a:t>, er </a:t>
            </a:r>
            <a:r>
              <a:rPr lang="en-US" sz="1000" dirty="0" err="1">
                <a:latin typeface="Aptos" panose="020B0004020202020204" pitchFamily="34" charset="0"/>
                <a:cs typeface="Calibri" panose="020F0502020204030204" pitchFamily="34" charset="0"/>
              </a:rPr>
              <a:t>ist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hier</a:t>
            </a:r>
            <a:r>
              <a:rPr lang="en-US" sz="1000" dirty="0">
                <a:latin typeface="Aptos" panose="020B0004020202020204" pitchFamily="34" charset="0"/>
                <a:cs typeface="Calibri" panose="020F0502020204030204" pitchFamily="34" charset="0"/>
              </a:rPr>
              <a:t>, um zu </a:t>
            </a:r>
            <a:r>
              <a:rPr lang="en-US" sz="1000" dirty="0" err="1">
                <a:latin typeface="Aptos" panose="020B0004020202020204" pitchFamily="34" charset="0"/>
                <a:cs typeface="Calibri" panose="020F0502020204030204" pitchFamily="34" charset="0"/>
              </a:rPr>
              <a:t>zeigen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wie</a:t>
            </a:r>
            <a:r>
              <a:rPr lang="en-US" sz="1000" dirty="0">
                <a:latin typeface="Aptos" panose="020B0004020202020204" pitchFamily="34" charset="0"/>
                <a:cs typeface="Calibri" panose="020F0502020204030204" pitchFamily="34" charset="0"/>
              </a:rPr>
              <a:t> dieses </a:t>
            </a:r>
            <a:r>
              <a:rPr lang="en-US" sz="1000" dirty="0" err="1">
                <a:latin typeface="Aptos" panose="020B0004020202020204" pitchFamily="34" charset="0"/>
                <a:cs typeface="Calibri" panose="020F0502020204030204" pitchFamily="34" charset="0"/>
              </a:rPr>
              <a:t>Dokument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aussehen</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wenn</a:t>
            </a:r>
            <a:r>
              <a:rPr lang="en-US" sz="1000" dirty="0">
                <a:latin typeface="Aptos" panose="020B0004020202020204" pitchFamily="34" charset="0"/>
                <a:cs typeface="Calibri" panose="020F0502020204030204" pitchFamily="34" charset="0"/>
              </a:rPr>
              <a:t> es </a:t>
            </a:r>
            <a:r>
              <a:rPr lang="en-US" sz="1000" dirty="0" err="1">
                <a:latin typeface="Aptos" panose="020B0004020202020204" pitchFamily="34" charset="0"/>
                <a:cs typeface="Calibri" panose="020F0502020204030204" pitchFamily="34" charset="0"/>
              </a:rPr>
              <a:t>mit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echtem</a:t>
            </a:r>
            <a:r>
              <a:rPr lang="en-US" sz="1000" dirty="0">
                <a:latin typeface="Aptos" panose="020B0004020202020204" pitchFamily="34" charset="0"/>
                <a:cs typeface="Calibri" panose="020F0502020204030204" pitchFamily="34" charset="0"/>
              </a:rPr>
              <a:t> Text </a:t>
            </a:r>
            <a:r>
              <a:rPr lang="en-US" sz="1000" dirty="0" err="1">
                <a:latin typeface="Aptos" panose="020B0004020202020204" pitchFamily="34" charset="0"/>
                <a:cs typeface="Calibri" panose="020F0502020204030204" pitchFamily="34" charset="0"/>
              </a:rPr>
              <a:t>gefüllt</a:t>
            </a:r>
            <a:r>
              <a:rPr lang="en-US" sz="1000" dirty="0">
                <a:latin typeface="Aptos" panose="020B0004020202020204" pitchFamily="34" charset="0"/>
                <a:cs typeface="Calibri" panose="020F0502020204030204" pitchFamily="34" charset="0"/>
              </a:rPr>
              <a:t> </a:t>
            </a:r>
            <a:r>
              <a:rPr lang="en-US" sz="1000" dirty="0" err="1">
                <a:latin typeface="Aptos" panose="020B0004020202020204" pitchFamily="34" charset="0"/>
                <a:cs typeface="Calibri" panose="020F0502020204030204" pitchFamily="34" charset="0"/>
              </a:rPr>
              <a:t>wird</a:t>
            </a:r>
            <a:r>
              <a:rPr lang="en-US" sz="1000" dirty="0">
                <a:latin typeface="Aptos" panose="020B0004020202020204" pitchFamily="34" charset="0"/>
                <a:cs typeface="Calibri" panose="020F0502020204030204" pitchFamily="34" charset="0"/>
              </a:rPr>
              <a:t>.</a:t>
            </a:r>
            <a:br>
              <a:rPr lang="en-US" sz="1000" dirty="0">
                <a:latin typeface="Aptos" panose="020B0004020202020204" pitchFamily="34" charset="0"/>
                <a:cs typeface="Calibri" panose="020F0502020204030204" pitchFamily="34" charset="0"/>
              </a:rPr>
            </a:br>
            <a:r>
              <a:rPr lang="en-US" sz="1000" dirty="0">
                <a:latin typeface="Aptos" panose="020B0004020202020204" pitchFamily="34" charset="0"/>
                <a:cs typeface="Calibri" panose="020F0502020204030204" pitchFamily="34" charset="0"/>
              </a:rPr>
              <a:t>Technologie: </a:t>
            </a:r>
            <a:r>
              <a:rPr lang="en-US" sz="1000" dirty="0" err="1">
                <a:latin typeface="Aptos" panose="020B0004020202020204" pitchFamily="34" charset="0"/>
                <a:cs typeface="Calibri" panose="020F0502020204030204" pitchFamily="34" charset="0"/>
              </a:rPr>
              <a:t>Technologiekompetenzen</a:t>
            </a:r>
            <a:r>
              <a:rPr lang="en-US" sz="1000" dirty="0">
                <a:latin typeface="Aptos" panose="020B0004020202020204" pitchFamily="34" charset="0"/>
                <a:cs typeface="Calibri" panose="020F0502020204030204" pitchFamily="34" charset="0"/>
              </a:rPr>
              <a:t> A, Tool B, Methode C</a:t>
            </a:r>
          </a:p>
        </p:txBody>
      </p:sp>
      <p:sp>
        <p:nvSpPr>
          <p:cNvPr id="41" name="TextBox 40">
            <a:extLst>
              <a:ext uri="{FF2B5EF4-FFF2-40B4-BE49-F238E27FC236}">
                <a16:creationId xmlns:a16="http://schemas.microsoft.com/office/drawing/2014/main" id="{2C863097-343A-680B-8844-2A680C2B07D8}"/>
              </a:ext>
            </a:extLst>
          </p:cNvPr>
          <p:cNvSpPr txBox="1"/>
          <p:nvPr/>
        </p:nvSpPr>
        <p:spPr>
          <a:xfrm>
            <a:off x="6354226" y="5954879"/>
            <a:ext cx="5348205" cy="153888"/>
          </a:xfrm>
          <a:prstGeom prst="rect">
            <a:avLst/>
          </a:prstGeom>
          <a:noFill/>
        </p:spPr>
        <p:txBody>
          <a:bodyPr wrap="square" lIns="0" tIns="0" rIns="0" bIns="0" rtlCol="0">
            <a:spAutoFit/>
          </a:bodyPr>
          <a:lstStyle/>
          <a:p>
            <a:r>
              <a:rPr lang="sv-SE" sz="1000" dirty="0">
                <a:latin typeface="Aptos" panose="020B0004020202020204" pitchFamily="34" charset="0"/>
              </a:rPr>
              <a:t>Kunde AG, Kunde Solutions GmbH, Beispiel Kunde SE, Kunde Ltd.</a:t>
            </a:r>
          </a:p>
        </p:txBody>
      </p:sp>
    </p:spTree>
    <p:extLst>
      <p:ext uri="{BB962C8B-B14F-4D97-AF65-F5344CB8AC3E}">
        <p14:creationId xmlns:p14="http://schemas.microsoft.com/office/powerpoint/2010/main" val="30453117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FALLBACK_LAYOUT" val="1"/>
  <p:tag name="MIO_SHOW_DATE" val="False"/>
  <p:tag name="MIO_SHOW_FOOTER" val="False"/>
  <p:tag name="MIO_SHOW_PAGENUMBER" val="False"/>
  <p:tag name="MIO_AVOID_BLANK_LAYOUT" val="True"/>
  <p:tag name="MIO_CD_LAYOUT_VALID_AREA" val="False"/>
  <p:tag name="MIO_EMBED_FONT" val="False"/>
  <p:tag name="MIO_MATCH_COLOR_SCHEME" val="False"/>
  <p:tag name="MIO_NUMBER_OF_VALID_LAYOUTS" val="29"/>
  <p:tag name="MIO_EKGUID" val="a4fc2127-e6ee-4e73-b2a0-71faa570fb8a"/>
  <p:tag name="MIO_VERSION" val="14.03.2025 15:29:31"/>
  <p:tag name="MIO_DBID" val="fede6900-895c-4459-b97c-72b2b9dac459"/>
  <p:tag name="MIO_OBJECTNAME" val="01 Deloitte 16:9 (2025) long"/>
  <p:tag name="MIO_LASTDOWNLOADED" val="06.05.2025 13:33:49.072"/>
  <p:tag name="MIO_CONTENTTAG" val="HcbE+PQ76k6wHkvnb3Gw/g=="/>
  <p:tag name="MIO_CDID" val="b832c4bc-5070-4232-bfdb-3d42c9da7c2d"/>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28108E06-533F-415D-8B16-1D137DCDD4DE}" vid="{0E244294-F3D7-4586-BDBA-5ABBE6DAE5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450141EABE6741B7965A9F581E32FB" ma:contentTypeVersion="3" ma:contentTypeDescription="Create a new document." ma:contentTypeScope="" ma:versionID="550f47d906508cc80c0f86fa32a28d8d">
  <xsd:schema xmlns:xsd="http://www.w3.org/2001/XMLSchema" xmlns:xs="http://www.w3.org/2001/XMLSchema" xmlns:p="http://schemas.microsoft.com/office/2006/metadata/properties" xmlns:ns1="http://schemas.microsoft.com/sharepoint/v3" xmlns:ns2="0f44c56f-973d-427a-88b0-b6ee75c58cbd" targetNamespace="http://schemas.microsoft.com/office/2006/metadata/properties" ma:root="true" ma:fieldsID="9706cc16b29056d8153ed958e698254e" ns1:_="" ns2:_="">
    <xsd:import namespace="http://schemas.microsoft.com/sharepoint/v3"/>
    <xsd:import namespace="0f44c56f-973d-427a-88b0-b6ee75c58cbd"/>
    <xsd:element name="properties">
      <xsd:complexType>
        <xsd:sequence>
          <xsd:element name="documentManagement">
            <xsd:complexType>
              <xsd:all>
                <xsd:element ref="ns1:PublishingStartDate" minOccurs="0"/>
                <xsd:element ref="ns1:PublishingExpirationDate"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44c56f-973d-427a-88b0-b6ee75c58cb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BF235D-5BAD-4A08-AEE0-5E29BE15689F}">
  <ds:schemaRefs>
    <ds:schemaRef ds:uri="http://purl.org/dc/terms/"/>
    <ds:schemaRef ds:uri="http://purl.org/dc/elements/1.1/"/>
    <ds:schemaRef ds:uri="http://schemas.microsoft.com/office/2006/documentManagement/types"/>
    <ds:schemaRef ds:uri="http://www.w3.org/XML/1998/namespace"/>
    <ds:schemaRef ds:uri="http://schemas.microsoft.com/sharepoint/v3"/>
    <ds:schemaRef ds:uri="http://purl.org/dc/dcmitype/"/>
    <ds:schemaRef ds:uri="http://schemas.microsoft.com/office/infopath/2007/PartnerControls"/>
    <ds:schemaRef ds:uri="http://schemas.openxmlformats.org/package/2006/metadata/core-properties"/>
    <ds:schemaRef ds:uri="0f44c56f-973d-427a-88b0-b6ee75c58cbd"/>
    <ds:schemaRef ds:uri="http://schemas.microsoft.com/office/2006/metadata/properties"/>
  </ds:schemaRefs>
</ds:datastoreItem>
</file>

<file path=customXml/itemProps2.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3.xml><?xml version="1.0" encoding="utf-8"?>
<ds:datastoreItem xmlns:ds="http://schemas.openxmlformats.org/officeDocument/2006/customXml" ds:itemID="{578D994A-DAFF-47BB-99A8-938BF48C34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f44c56f-973d-427a-88b0-b6ee75c58c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1842</Words>
  <Application>Microsoft Office PowerPoint</Application>
  <PresentationFormat>Widescreen</PresentationFormat>
  <Paragraphs>169</Paragraphs>
  <Slides>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0" baseType="lpstr">
      <vt:lpstr>Aptos</vt:lpstr>
      <vt:lpstr>Arial</vt:lpstr>
      <vt:lpstr>Verdana</vt:lpstr>
      <vt:lpstr>Wingdings 2</vt:lpstr>
      <vt:lpstr>Deloitte_Brand_Theme</vt:lpstr>
      <vt:lpstr>think-cell Slide</vt:lpstr>
      <vt:lpstr>PowerPoint Presentation</vt:lpstr>
      <vt:lpstr>PowerPoint Presentation</vt:lpstr>
      <vt:lpstr>Profile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Adams, Michaela</dc:creator>
  <cp:lastModifiedBy>Brenneisen, Eike</cp:lastModifiedBy>
  <cp:revision>8</cp:revision>
  <dcterms:created xsi:type="dcterms:W3CDTF">2020-04-09T19:50:51Z</dcterms:created>
  <dcterms:modified xsi:type="dcterms:W3CDTF">2025-12-19T12:12:53Z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0x010100E0450141EABE6741B7965A9F581E32FB</vt:lpwstr>
  </property>
</Properties>
</file>